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0000001-0000-4000-8000-000000000001}">
          <p14:sldIdLst>
            <p14:sldId id="256"/>
            <p14:sldId id="257"/>
            <p14:sldId id="258"/>
            <p14:sldId id="259"/>
          </p14:sldIdLst>
        </p14:section>
        <p14:section name="Part 1: Framing supervised problems" id="{00000002-0000-4000-8000-000000000002}">
          <p14:sldIdLst>
            <p14:sldId id="260"/>
            <p14:sldId id="261"/>
            <p14:sldId id="262"/>
            <p14:sldId id="263"/>
            <p14:sldId id="264"/>
            <p14:sldId id="265"/>
            <p14:sldId id="266"/>
            <p14:sldId id="267"/>
            <p14:sldId id="268"/>
          </p14:sldIdLst>
        </p14:section>
        <p14:section name="Part 2: Data, EDA and preprocessing" id="{00000003-0000-4000-8000-000000000003}">
          <p14:sldIdLst>
            <p14:sldId id="269"/>
            <p14:sldId id="270"/>
            <p14:sldId id="271"/>
            <p14:sldId id="272"/>
            <p14:sldId id="273"/>
            <p14:sldId id="274"/>
            <p14:sldId id="275"/>
            <p14:sldId id="276"/>
            <p14:sldId id="277"/>
            <p14:sldId id="278"/>
            <p14:sldId id="279"/>
            <p14:sldId id="280"/>
          </p14:sldIdLst>
        </p14:section>
        <p14:section name="Part 3: Splits, cross-validation and leakage" id="{00000004-0000-4000-8000-000000000004}">
          <p14:sldIdLst>
            <p14:sldId id="281"/>
            <p14:sldId id="282"/>
            <p14:sldId id="283"/>
            <p14:sldId id="284"/>
            <p14:sldId id="285"/>
            <p14:sldId id="286"/>
            <p14:sldId id="287"/>
            <p14:sldId id="288"/>
            <p14:sldId id="289"/>
            <p14:sldId id="290"/>
          </p14:sldIdLst>
        </p14:section>
        <p14:section name="Part 4: Linear models and regularization" id="{00000005-0000-4000-8000-000000000005}">
          <p14:sldIdLst>
            <p14:sldId id="291"/>
            <p14:sldId id="292"/>
            <p14:sldId id="293"/>
            <p14:sldId id="294"/>
            <p14:sldId id="295"/>
            <p14:sldId id="296"/>
            <p14:sldId id="297"/>
            <p14:sldId id="298"/>
            <p14:sldId id="299"/>
            <p14:sldId id="300"/>
            <p14:sldId id="301"/>
            <p14:sldId id="302"/>
            <p14:sldId id="303"/>
            <p14:sldId id="304"/>
            <p14:sldId id="305"/>
            <p14:sldId id="306"/>
            <p14:sldId id="307"/>
            <p14:sldId id="308"/>
            <p14:sldId id="309"/>
          </p14:sldIdLst>
        </p14:section>
        <p14:section name="Part 5: Classification models" id="{00000006-0000-4000-8000-000000000006}">
          <p14:sldIdLst>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Lst>
        </p14:section>
        <p14:section name="Part 6: Evaluating and selecting models" id="{00000007-0000-4000-8000-000000000007}">
          <p14:sldIdLst>
            <p14:sldId id="333"/>
            <p14:sldId id="334"/>
            <p14:sldId id="335"/>
            <p14:sldId id="336"/>
            <p14:sldId id="337"/>
            <p14:sldId id="338"/>
            <p14:sldId id="339"/>
            <p14:sldId id="340"/>
            <p14:sldId id="341"/>
            <p14:sldId id="342"/>
            <p14:sldId id="343"/>
            <p14:sldId id="344"/>
            <p14:sldId id="345"/>
            <p14:sldId id="346"/>
            <p14:sldId id="347"/>
            <p14:sldId id="348"/>
            <p14:sldId id="349"/>
            <p14:sldId id="35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engineers, geoscientists and analysts who can read Python and basic algebra. This first day of the machine learning course sets up the vocabulary, the workflow and the evaluation habits used all week: a written prediction contract, a split that matches deployment, preprocessing fitted inside the training fold, and a baseline on identical rows.</a:t>
            </a:r>
          </a:p>
          <a:p/>
          <a:p>
            <a:r>
              <a:t>Every plot in this deck is either a computed example on clearly labelled synthetic data or a labelled schematic. None of the numbers describe field performance. The labs use the notebooks in this module's exercises folder.</a:t>
            </a:r>
          </a:p>
          <a:p/>
          <a:p>
            <a:r>
              <a:t>Opening question [1 min]: ask two or three people to name one prediction they would like to make in their own work, and when its inputs become available. Write the answers on a flip chart; we return to them when we write prediction contracts.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day in one minute. Six teaching parts, each ending with a check question, and three lab blocks placed right after the material they practise. Lab 1 follows regression, Lab 2 follows the classification models, and Lab 3 closes the evaluation part with a tuned pipeline and a locked final test.</a:t>
            </a:r>
          </a:p>
          <a:p/>
          <a:p>
            <a:r>
              <a:t>Timing guide: about 3 minutes per content slide and 4–5 minutes per exercise. If you run late, the safest places to compress are the distance slide in part 5 and the model-comparison table in part 6; do not cut the leakage exercise or the lab debriefs.</a:t>
            </a:r>
          </a:p>
          <a:p/>
          <a:p>
            <a:r>
              <a:t>Lab 1 needs the California housing data from scikit-learn. It downloads on first use, so run the loading cell on every classroom machine before the day or provide a cached copy. The other notebooks use local files or bundled datasets.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outcomes aloud and point out that each one is observable: learners will produce a contract, an audit table, a split design, diagnostic plots, a boundary explanation and a grouped tuning run during the day.</a:t>
            </a:r>
          </a:p>
          <a:p/>
          <a:p>
            <a:r>
              <a:t>Assessment: each team submits its lab evidence (score tables with the baseline first, one diagnostic plot, one written split plan). Success means a defensible comparison, not the highest score in the room.</a:t>
            </a:r>
          </a:p>
          <a:p/>
          <a:p>
            <a:r>
              <a:t>Ask: which of these outcomes feels least familiar? Most groups say "a split that matches deployment" or "patterned gaps". Promise that both get a worked example and a lab task today. [2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story before explaining it. A team builds a facies classifier and reports 94% accuracy from five-fold cross-validation. The same model, evaluated by holding out one whole well at a time, averages 79%, and one well drops to 69.5%.</a:t>
            </a:r>
          </a:p>
          <a:p/>
          <a:p>
            <a:r>
              <a:t>Ask the room which number they would report, and why the two differ [2 min]. Collect guesses. The answer we will build during the day: neighbouring depth samples are about 0.15 m apart and nearly identical. Random folds put the neighbours of every validation row into training, so a nearest-neighbour model effectively looks the answer up. Holding out whole wells asks the deployment question: how does the model do on a well it has never seen?</a:t>
            </a:r>
          </a:p>
          <a:p/>
          <a:p>
            <a:r>
              <a:t>Keep the caveat explicit: this is synthetic data built with correlated depth samples and well-to-well calibration offsets. The size of the gap is not a claim about any real field; the mechanism is general. Transition: before any model, we need a precise question.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runs about 25 minutes. The goal is a shared language for the rest of the week: what a supervised problem is, how to write it down so that leakage becomes visible, and which baseline any model must beat.</a:t>
            </a:r>
          </a:p>
          <a:p/>
          <a:p>
            <a:r>
              <a:t>Ask the room to keep their own example from the opening question in mind; they will frame it in the exercise at the end of this 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3 minutes, then take two answers. A defensible example: the target is next-day oil rate per well in m³/d, one example is one well-day, and the prediction is made at midnight using everything recorded before midnight.</a:t>
            </a:r>
          </a:p>
          <a:p/>
          <a:p>
            <a:r>
              <a:t>Push on the third question. Ask why next-day measured pressure cannot be an input: it is not known at midnight. If a group proposes "poor production" as a class, ask for the threshold and who set it; a class defined by an arbitrary cut of a numeric target throws information away and should be justified by the decision it supports.</a:t>
            </a:r>
          </a:p>
          <a:p/>
          <a:p>
            <a:r>
              <a:t>Accept alternatives with explicit timing and units, such as monthly decline per well or a weekly flag for wells below plan. Common error: describing the model ("a neural network") instead of the question. Transition: the next slide shows one complete contract as a timeline.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timeline from left to right. The blue window holds everything known before the prediction time t₀: rates, pressures, choke settings, the last well test and the operating history. The orange box is the target: the oil rate over the next 24 hours. The dashed box is when the label is confirmed, often days later after allocation.</a:t>
            </a:r>
          </a:p>
          <a:p/>
          <a:p>
            <a:r>
              <a:t>Two consequences. First, any input must exist, unchanged, before t₀; yesterday's pressure is valid, tomorrow's is not. Second, label latency matters for monitoring: you cannot score today's prediction until the allocated rate arrives.</a:t>
            </a:r>
          </a:p>
          <a:p/>
          <a:p>
            <a:r>
              <a:t>The four boxes at the top complete the contract: the unit of one prediction, the prediction time, the decision it supports and the metric in physical units. Ask: which of these four is most often missing from project briefs you have seen? Usually the decision. [3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Supervised learning fits a function from inputs to a known target using examples where the answer is recorded. Regression predicts a number; classification predicts a class, usually with a probability for each class.</a:t>
            </a:r>
          </a:p>
          <a:p/>
          <a:p>
            <a:r>
              <a:t>Unsupervised learning has no target. Clustering and dimensionality reduction, covered in Modules 3 and 4, find structure, but a cluster is not automatically a geological facies. Reinforcement learning learns actions from delayed rewards, typically in simulation; it is context only and has no lab in this course.</a:t>
            </a:r>
          </a:p>
          <a:p/>
          <a:p>
            <a:r>
              <a:t>Context for the vocabulary: artificial intelligence is the broad field, machine learning learns patterns from data, and deep learning uses multilayer neural networks (the second course).</a:t>
            </a:r>
          </a:p>
          <a:p/>
          <a:p>
            <a:r>
              <a:t>Ask: is predicting facies from logs regression or classification? Classification. Predicting porosity from logs? Regression. [2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terms are used identically in both courses, so fix them now.</a:t>
            </a:r>
          </a:p>
          <a:p/>
          <a:p>
            <a:r>
              <a:t>A feature is any input that is available at prediction time; the contract decides that, not the spreadsheet. The target is what we predict. An observation is one row; a group is a set of rows that share a source, such as all depth samples from one well or all days from one pump. Groups matter because rows inside a group are not independent.</a:t>
            </a:r>
          </a:p>
          <a:p/>
          <a:p>
            <a:r>
              <a:t>Training data fit parameters, validation data choose between settings and models, and the test data give one final estimate for the locked workflow. The well counts in the table are an example, not a rule.</a:t>
            </a:r>
          </a:p>
          <a:p/>
          <a:p>
            <a:r>
              <a:t>A baseline is the simplest reference any model must beat on the same rows and metric. Leakage is any route by which information that would not exist at prediction time reaches the model. [2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seven steps. Framing produces the contract. Auditing checks units, gaps, null codes and distributions. The split comes early: decide which wells or periods are the test set before you look for patterns, so that exploration cannot quietly tune to them.</a:t>
            </a:r>
          </a:p>
          <a:p/>
          <a:p>
            <a:r>
              <a:t>Preparation and model fitting repeat inside every cross-validation fold, and all comparisons use validation scores. The test set is opened once, for the locked pipeline. Deployment is not the end: errors and drift in operation send you back to framing, often because the population or the question has changed.</a:t>
            </a:r>
          </a:p>
          <a:p/>
          <a:p>
            <a:r>
              <a:t>Ask: where in this loop do you think most project time goes? Accept answers; many practitioners report that framing, data access and auditing dominate, but make no numerical claim. [3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map to connect the day to learners' own work. Each card is a problem formulation, not a product: the grey line gives the unit of one prediction, which already hints at the split. Depth-sample problems need grouping by well; per-hour and per-day problems need time-ordered evaluation.</a:t>
            </a:r>
          </a:p>
          <a:p/>
          <a:p>
            <a:r>
              <a:t>Point out that the same field often supports both task types. Production gives a regression target (next-day rate) and a classification target (a pump trip within seven days). The choice depends on the decision, not on the data.</a:t>
            </a:r>
          </a:p>
          <a:p/>
          <a:p>
            <a:r>
              <a:t>Ask two learners to place their opening-question example on the map and to name its unit. Mention that later modules revisit several of these: anomalies and rare events in Module 5, sequences in Neural Networks Day 5. [2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baseline turns a score into evidence. Without one, "RMSE 12 m³/d" means nothing: it might be excellent or worse than repeating yesterday's value.</a:t>
            </a:r>
          </a:p>
          <a:p/>
          <a:p>
            <a:r>
              <a:t>Rules for baselines: fit their parameters on training data only (the training mean, not the overall mean); evaluate them on exactly the same rows and metric as every candidate; and record runtime and failure cases next to the score. A domain formula, such as porosity from density with a known matrix density, is often a strong and interpretable baseline.</a:t>
            </a:r>
          </a:p>
          <a:p/>
          <a:p>
            <a:r>
              <a:t>Ask: what does an expensive nonlinear model prove if it cannot beat persistence? Nothing useful for the decision, and it adds maintenance cost. A simple baseline can be operationally valuable on its own. In scikit-learn, DummyRegressor and DummyClassifier give the trivial baselines in one line. [2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pairs 4 minutes, then collect one row per pair [5 min total].</a:t>
            </a:r>
          </a:p>
          <a:p/>
          <a:p>
            <a:r>
              <a:t>Worked answers. Oil rate next month: regression; one row is a well-month; baseline persistence or a decline-curve forecast; leaky input: an allocation revised after the month. ESP trip within 7 days: classification; one row is a pump-day; baseline majority class (never alert) or a simple rule on motor temperature; leaky input: a maintenance ticket opened after the trip. Facies from logs: classification; one row is a depth sample, grouped by well; baseline majority facies; leaky input: an interpreted curve derived from the facies labels. Day-ahead hourly load: regression; one row is an hour; baseline same hour last week; leaky input: actual temperature for the forecast day instead of the forecast temperature. Corrosion rate by segment: regression; one row is a segment-inspection; baseline segment history mean; leaky input: a repair flag recorded because of the measured rate.</a:t>
            </a:r>
          </a:p>
          <a:p/>
          <a:p>
            <a:r>
              <a:t>Common error: naming the model instead of the unit. Transition to part 2: the unit and the timing decide how we audit and split the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runs about 40 minutes. Exploratory data analysis (EDA) has two jobs: understand the structure that will drive the split and the model, and find data-quality problems before they become model behaviour.</a:t>
            </a:r>
          </a:p>
          <a:p/>
          <a:p>
            <a:r>
              <a:t>All EDA figures use one synthetic 8-well dataset with five facies, built so that its problems are known. That lets us check every claim. The lab dataset in Lab 2 has several of the same problems in real form.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energy datasets combine these shapes. Tabular data have one row per entity or event, like a completion table. Depth-indexed logs have one row per depth sample, often every half foot (about 0.15 m); adjacent samples see almost the same rock, so they are strongly correlated. Time series have one row per timestamp per asset; order matters, and the future must not leak into the past. Images and grids, such as seismic sections, are covered in the neural network course (Day 4).</a:t>
            </a:r>
          </a:p>
          <a:p/>
          <a:p>
            <a:r>
              <a:t>The practical point is on the callout: the data shape tells you what "independent" means. Rows from the same well or the same pump are not independent, and random row splits overstate performance, as the motivating case showed.</a:t>
            </a:r>
          </a:p>
          <a:p/>
          <a:p>
            <a:r>
              <a:t>Ask: which shape does your opening-question example have? Usually a time series or depth logs. [2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display the way a petrophysicist would. Depth increases downward. Gamma ray (GR, in API units) is high in shaly rock and low in clean sandstone and carbonate. Resistivity (RT, ohm-metres) is on a logarithmic axis because it spans orders of magnitude. Bulk density (RHOB, g/cm³, red) and neutron porosity (NPHI, v/v, dashed blue, plotted right to left) share the third track, a standard display. The facies column is the target.</a:t>
            </a:r>
          </a:p>
          <a:p/>
          <a:p>
            <a:r>
              <a:t>For machine learning, this is simply a table: one row per depth sample, one column per curve, plus the facies label and a well identifier. Two features of the table matter: neighbouring rows are near-copies, and log values can shift between wells because of tools, borehole conditions and calibration.</a:t>
            </a:r>
          </a:p>
          <a:p/>
          <a:p>
            <a:r>
              <a:t>Ask: which curve would you transform before a linear model or KNN? Resistivity, to log10. [3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gamma ray is a mixture. The low-GR hump comes from clean rock (sandstone and carbonates) and the high-GR hump from shaly rock. A mixture tells you the target classes are visible in this feature, and that a single mean or standard deviation describes no real rock.</a:t>
            </a:r>
          </a:p>
          <a:p/>
          <a:p>
            <a:r>
              <a:t>Middle and right: resistivity on a linear axis has a skewness of 3.71; most samples crowd near zero and a long tail dominates the variance. On a log10 axis the skewness drops to 0.60. Linear models, KNN distances and standard scaling all behave better on the transformed feature.</a:t>
            </a:r>
          </a:p>
          <a:p/>
          <a:p>
            <a:r>
              <a:t>Ask: would a tree need the log transform? No: trees split on thresholds and are unaffected by monotonic transforms. That is a useful first contrast between model families. Remind learners to look at distributions per well too, not only pooled. [3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Pearson correlation r measures linear association between two features, from −1 to +1. In this synthetic set, GR, NPHI and sonic slowness DT increase together (r between 0.72 and 0.80), and log resistivity falls as they rise (r about −0.74 to −0.82).</a:t>
            </a:r>
          </a:p>
          <a:p/>
          <a:p>
            <a:r>
              <a:t>Two cautions. First, much of this correlation comes from mixing facies: across rock types, shaly rock has high GR and high NPHI together. Within a single facies the correlation can be weak or even change sign. Second, correlation says nothing about cause, and r near zero does not rule out a strong nonlinear link.</a:t>
            </a:r>
          </a:p>
          <a:p/>
          <a:p>
            <a:r>
              <a:t>Why it matters today: strongly correlated inputs make individual linear coefficients unstable and hard to interpret, which motivates ridge regression in part 4. They are not a problem for prediction as such. [3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of the matrix is a curve and each column a depth sample, grouped by well. Dark cells are missing. The bar chart gives the share missing per curve: PE 27.1%, DT 17.6%, RHOB 2.1%, the others 0.7%.</a:t>
            </a:r>
          </a:p>
          <a:p/>
          <a:p>
            <a:r>
              <a:t>Every pattern has a physical story. The PE curve was not run in two wells, perhaps because an older tool string was used. Sonic was logged only over the lower interval of three wells. In W7 a washout (an enlarged borehole) cost the pad-contact measurements, density and PE. In W4 a gap between two logging runs removed all curves.</a:t>
            </a:r>
          </a:p>
          <a:p/>
          <a:p>
            <a:r>
              <a:t>Consequences: dropping rows with any gap would delete two whole wells; imputing blindly would invent PE values for wells that never had the tool. Record the pattern, decide per curve, and consider a missing indicator. Ask: could missingness itself predict the target? Yes, if gaps follow rock type or hole condition, which is why the indicator helps and why it must be checked for leakage. [3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LAS files, the common exchange format for well logs, mark missing values with a null code, very often −999.25. If a reader does not convert it, the code becomes a measurement. Here 12 of 400 samples in W3 are −999.25; the mean gamma ray drops from 78 API to 45 API. A standard scaler fitted on this column would be ruined, and a tree might even learn a split at −500.</a:t>
            </a:r>
          </a:p>
          <a:p/>
          <a:p>
            <a:r>
              <a:t>Right: one well stores neutron porosity in percent (median 20.8) while the others use volume fraction (median 0.21). Pooled, the column looks like a skewed distribution with a few high values; per well, the problem is obvious.</a:t>
            </a:r>
          </a:p>
          <a:p/>
          <a:p>
            <a:r>
              <a:t>Checks that catch both: per-well minimum, median and maximum; counts of exact repeated values; and a comparison against physical ranges. Ask for another unit trap from experience: pressure in psi versus bar, depth in feet versus metres, rates per day versus per hour. [3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Logs from different runs, tools or vendors can be offset in depth, for example by cable stretch or different depth references. If density comes from one run and neutron from another, a combined feature such as a density–neutron difference compares different rock.</a:t>
            </a:r>
          </a:p>
          <a:p/>
          <a:p>
            <a:r>
              <a:t>The standard check is to correlate a curve that was recorded on both runs, usually gamma ray. The right panel computes the correlation between run 1 and run 2 for trial shifts from −3 to +3 m. With no shift, r is 0.50; the maximum, r = 0.97, is at 1.20 m, the shift we injected.</a:t>
            </a:r>
          </a:p>
          <a:p/>
          <a:p>
            <a:r>
              <a:t>In practice, check the match visually at several beds, because a single global shift may not fit a whole well. For machine learning, the lesson is that depth alignment is part of data preparation and belongs before feature engineering. Ask: what happens to a model trained on misaligned curves? It learns noisier, blurred relationships at every bed boundary. [3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computed from the synthetic 8-well dataset with the problems injected on the previous slides. Give 4 minutes, then collect answers [5 min].</a:t>
            </a:r>
          </a:p>
          <a:p/>
          <a:p>
            <a:r>
              <a:t>Worked answers. (1) GR minimum −999.25: a null code read as data; count and mask the exact value, then recompute statistics. (2) NPHI maximum 40.2 with median 0.23: some rows are in percent; check the per-well medians and convert. (3) PE present in only 2,333 rows (27% missing): check which wells lack it; here it is whole wells, so imputation would invent a tool that was never run. (4) DT present in 2,638 rows (18% missing): check depth coverage per well. (5) Every curve is missing at least 22 rows: a gap where all curves vanish together points to a run gap or splice. (6) RT spans 0.49 to 332 with median 5.9: skewed; plan a log transform. RHOB looks physically plausible, which is itself useful information.</a:t>
            </a:r>
          </a:p>
          <a:p/>
          <a:p>
            <a:r>
              <a:t>Common error: fixing values without recording the fix. Every correction should be a scripted, repeatable step in the pipeline, applied identically to new wells.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features encode physics or the decision. A log transform turns multiplicative resistivity behaviour into additive steps. A gamma-ray index scaled between per-well clean and shale baselines removes some well-to-well calibration differences. Rolling statistics must be computed within each well, never across a boundary between wells, and only with the time direction the application allows.</a:t>
            </a:r>
          </a:p>
          <a:p/>
          <a:p>
            <a:r>
              <a:t>Correct three common shortcuts. Subtracting neutron porosity from bulk density without a defined normalization has no direct physical meaning, because the units differ. A well identifier lets a model memorize wells; for unseen wells it carries no transferable information and should be a grouping key, not a feature. Centred windows are fine for offline interpretation of a finished log, but in real-time drilling they would use samples below the bit that do not exist yet.</a:t>
            </a:r>
          </a:p>
          <a:p/>
          <a:p>
            <a:r>
              <a:t>Ask: is depth a good feature? Sometimes, as a proxy for compaction, but it can also let the model memorize the stratigraphy of the training wells. Check it on held-out wells. [3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panel fits a scaler twice, without and with a single outlier, and shows where the 40 ordinary samples land. StandardScaler subtracts the mean and divides by the standard deviation; one outlier inflates both, so the ordinary samples collapse into a narrow band and the outlier sits at 6.3. MinMaxScaler maps the minimum and maximum to 0 and 1; the outlier takes the top of the range and squeezes the ordinary samples into about the first tenth. RobustScaler uses the median and the interquartile range (IQR); both barely change, so the ordinary samples keep their spread and the outlier simply lands far away, at 29.3.</a:t>
            </a:r>
          </a:p>
          <a:p/>
          <a:p>
            <a:r>
              <a:t>Scaling matters for distance- and gradient-based models (KNN, SVM, regularized linear models, neural networks) and not for trees. Whatever the choice, the scaler learns statistics, so it must be fitted on training rows only. Ask: would you rather fix the outlier or choose a robust scaler? Fix it if it is an error, such as a null code; use a robust method if it is real but rare. [3 min]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one-hot encoding turns a categorical column such as formation into one 0/1 column per category. Integer codes (0, 1, 2) would tell a linear model or KNN that category 2 is "twice" category 1; trees are less affected but still split on an arbitrary order. In scikit-learn, OneHotEncoder(handle_unknown="ignore") avoids failures when a new well contains a formation not seen in training.</a:t>
            </a:r>
          </a:p>
          <a:p/>
          <a:p>
            <a:r>
              <a:t>Right: median imputation replaces missing values with the training median, here 3.1, and SimpleImputer(add_indicator=True) adds a PE_missing column so the model can learn whether missingness itself carries information.</a:t>
            </a:r>
          </a:p>
          <a:p/>
          <a:p>
            <a:r>
              <a:t>Both steps are fitted: the list of categories and the median are learned. Fitting them on all rows before splitting leaks the validation distribution, which leads straight into part 3. Note the facies lab notebook gives Formation integer codes (OrdinalEncoder, fitted inside its pipeline); ask learners to judge whether that is acceptable for the random forest it uses (mostly yes) and for KNN (no). Mixed column types need a ColumnTransformer, covered in Module 2. [3 min]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3 runs about 35 minutes and is the core of the day's evaluation habits. Every later module assumes these ideas: a split that answers the deployment question, cross-validation that respects groups and time, and preprocessing fitted inside each training fold.</a:t>
            </a:r>
          </a:p>
          <a:p/>
          <a:p>
            <a:r>
              <a:t>Remind learners of the motivating case: the model was the same; only the split changed the answer from 0.94 to 0.79.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rows fit everything that is learned, including preprocessing statistics. Validation rows, or cross-validation folds, compare candidates and choose settings; because we choose on them, their scores become optimistic. The test set is used once, on the locked workflow, to estimate performance for the deployment question.</a:t>
            </a:r>
          </a:p>
          <a:p/>
          <a:p>
            <a:r>
              <a:t>Avoid prescribing a universal 60/20/20 split. With ten wells, the number of independent wells in each partition matters far more than the number of rows. With rare events, the number of events in validation and test decides how noisy the estimates are.</a:t>
            </a:r>
          </a:p>
          <a:p/>
          <a:p>
            <a:r>
              <a:t>Fold-score standard deviation describes variation across folds; it is not a confidence interval for deployment performance. Ask: what should you do if you looked at the test score and then changed the model? Admit it: the test set has become validation data, and you need new held-out data for an honest estimate. [3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each row as a question. Random rows ask how well the model predicts new rows from the same wells: appropriate only if rows are close to independent, which depth samples are not. Grouped by well asks how well it predicts a well it has never seen: the usual question for new wells. Ordered in time asks how well it predicts the period after training: the question for any forecast.</a:t>
            </a:r>
          </a:p>
          <a:p/>
          <a:p>
            <a:r>
              <a:t>Forecasting for new wells may need both: grouping and time order at once. A random row split is not wrong in itself; it answers a question nobody usually asks in operations.</a:t>
            </a:r>
          </a:p>
          <a:p/>
          <a:p>
            <a:r>
              <a:t>Ask: which row matches the facies model in the motivating case? Grouped by well. Which matches a day-ahead load forecast? Ordered in time, with the latest period as the test set.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K-fold cross-validation splits the rows into K folds; each fold is the validation set once while the other K − 1 train the model, and the K scores are averaged. It uses every row for both fitting and validation, which matters when data are scarce.</a:t>
            </a:r>
          </a:p>
          <a:p/>
          <a:p>
            <a:r>
              <a:t>With a minority class, plain shuffled folds can be unbalanced by chance. Here fold 1 holds 2 of the 4 events and fold 2 holds none, so fold 2 cannot measure event recall at all. StratifiedKFold keeps the class proportions: one event per fold.</a:t>
            </a:r>
          </a:p>
          <a:p/>
          <a:p>
            <a:r>
              <a:t>Both schemes are still row-level: they assume rows are exchangeable. That assumption fails for depth samples and time series, which the next slide fixes. Note: scikit-learn's cross_val_score uses stratified folds by default for classifiers when you pass an integer cv. [3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GroupKFold assigns whole groups to folds, here two wells per fold, so no well is ever split between training and validation. LeaveOneGroupOut is the extreme case with one well per fold, as in the motivating example. StratifiedGroupKFold tries to keep class proportions while respecting groups; check the folds, because with few wells it cannot always succeed.</a:t>
            </a:r>
          </a:p>
          <a:p/>
          <a:p>
            <a:r>
              <a:t>Right: TimeSeriesSplit trains on an expanding window of past blocks and validates on the next block. Later blocks are never used to predict earlier ones. Its gap parameter leaves blocks unused between training and validation, which you need when the target is several steps ahead or features use trailing windows.</a:t>
            </a:r>
          </a:p>
          <a:p/>
          <a:p>
            <a:r>
              <a:t>Grouped folds usually give lower and more variable scores than random folds. That is the honest price of the question we actually ask. [3 min]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table as the decision aid for the labs. Start from the deployment question in the contract, then pick the scheme whose "estimates performance on" column matches it.</a:t>
            </a:r>
          </a:p>
          <a:p/>
          <a:p>
            <a:r>
              <a:t>Two practical notes. With few groups, say six wells, grouped cross-validation has only a handful of folds and each fold score is noisy; report every fold score, not just the mean. For time series, choose the gap from the forecast horizon and the length of any trailing feature window.</a:t>
            </a:r>
          </a:p>
          <a:p/>
          <a:p>
            <a:r>
              <a:t>Ask: a model predicts the next month's rate for new wells in a developing field. Which scheme? Grouped by well and time-ordered: train on older wells and periods, validate on newer wells in later periods. Module 5 returns to model selection with nested cross-validation. [2 min]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Parameters are the numbers a fit call computes from training rows: regression weights and intercept, tree split thresholds, the support vectors of an SVM, and also the medians of an imputer and the means of a scaler.</a:t>
            </a:r>
          </a:p>
          <a:p/>
          <a:p>
            <a:r>
              <a:t>Hyperparameters are settings we choose before fitting, by comparing validation scores: the ridge or lasso penalty α, the number of neighbours K, the SVM's C and γ, a tree's max_depth. Choices such as which scaler, which features or which model family are hyperparameters too.</a:t>
            </a:r>
          </a:p>
          <a:p/>
          <a:p>
            <a:r>
              <a:t>Because validation scores were used to choose, the best validation score is optimistic: it was selected as the maximum of several noisy numbers. That is why the locked workflow needs one final test. Ask: is the number of cross-validation folds a hyperparameter of the model? No: it is part of the evaluation design and should follow the data structure. [2 min]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leakage: a feature that is a consequence or a re-expression of the target. A workover flag recorded after an ESP failure predicts the failure perfectly in the historical table and not at all in operation. So does a porosity curve interpreted from the same core you try to predict.</a:t>
            </a:r>
          </a:p>
          <a:p/>
          <a:p>
            <a:r>
              <a:t>Train–test contamination: information from evaluation rows reaches training. Fitting a scaler or feature selection on all wells before splitting does it; so does placing adjacent depth samples of one bed on both sides of a random split, as in the motivating case, and duplicated records.</a:t>
            </a:r>
          </a:p>
          <a:p/>
          <a:p>
            <a:r>
              <a:t>Temporal leakage: information from after the prediction time. Centred rolling windows, features computed over the whole history, and allocated or revised values that were not available on the day all leak the future.</a:t>
            </a:r>
          </a:p>
          <a:p/>
          <a:p>
            <a:r>
              <a:t>Kaufman and colleagues (2012) give a formal treatment and many practical examples; see the reference slide. Ask for one leak from learners' experience. [3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2 minutes, then debrief with the next slide [3 min total].</a:t>
            </a:r>
          </a:p>
          <a:p/>
          <a:p>
            <a:r>
              <a:t>Answer: both steps have used the validation wells. Scaling on all wells used their means and standard deviations, a mild form of contamination. Feature selection using all labels is serious: it chose features partly because they correlate with the target in the validation wells, so validation scores are biased upward even when the features are pure noise. The grouped split came too late to help.</a:t>
            </a:r>
          </a:p>
          <a:p/>
          <a:p>
            <a:r>
              <a:t>Where they belong: inside the cross-validation loop, fitted on the training wells of each fold and only applied to the validation wells. In scikit-learn, placing both steps in a Pipeline and passing the pipeline to cross_val_score or GridSearchCV achieves that automatically.</a:t>
            </a:r>
          </a:p>
          <a:p/>
          <a:p>
            <a:r>
              <a:t>Common error: thinking unsupervised preprocessing is always safe. It is less dangerous than supervised selection, but it still lets validation data shape the model. Module 2 measures how much the wrong order inflates scores in a controlled experiment.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one fold. The training rows of fold k flow through the top lane: the imputer learns medians, the scaler learns means and standard deviations, and the model learns its weights. The validation rows flow through the bottom lane and are only transformed with those learned values, then scored. Repeat for every fold and report the mean and the spread of the K scores.</a:t>
            </a:r>
          </a:p>
          <a:p/>
          <a:p>
            <a:r>
              <a:t>The dashed arrows are the only information that may cross from training to validation: learned parameters, never statistics computed from validation rows.</a:t>
            </a:r>
          </a:p>
          <a:p/>
          <a:p>
            <a:r>
              <a:t>In code, this is what a scikit-learn Pipeline does inside cross_val_score, cross_validate and GridSearchCV; we write that code in part 6. Ask: where does a feature selection step go? Between the scaler and the model, in the same top lane.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runs about 50 minutes and ends with Lab 1. We start with the simplest supervised model because every idea of the day shows up in it: parameters, a loss, an optimizer, capacity, regularization and evaluation.</a:t>
            </a:r>
          </a:p>
          <a:p/>
          <a:p>
            <a:r>
              <a:t>All regression figures use synthetic data with known generating functions, so we can compare what the model learns with the truth.</a:t>
            </a:r>
          </a:p>
          <a:p/>
          <a:p>
            <a:r>
              <a:t>Ask the room before starting: which of your own targets would you model with a straight line first, and why? Keep one answer on the flip chart; we test it against residuals, capacity and regularization during this part.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predicts ŷ as an intercept b plus a weighted sum of d inputs x_j with weights w_j. Worked example: with ŷ = 2 + 3x, an input x = 4 gives 2 + 12 = 14.</a:t>
            </a:r>
          </a:p>
          <a:p/>
          <a:p>
            <a:r>
              <a:t>The figure shows a case where linearity is physical. Porosity from bulk density follows φ = (ρ_ma − ρ_b)/(ρ_ma − ρ_f), with matrix density ρ_ma and fluid density ρ_f. For a sandstone matrix of 2.65 and fluid of 1.00 g/cm³ the slope is −1/1.65 = −0.606 per g/cm³. The least-squares fit on noisy synthetic data gives 1.54 − 0.578 × RHOB; at RHOB 2.40 it predicts a porosity of 0.152.</a:t>
            </a:r>
          </a:p>
          <a:p/>
          <a:p>
            <a:r>
              <a:t>Interpretation cautions: a weight has units (porosity per g/cm³ here), so it changes with the unit of its input; with correlated inputs, one weight cannot be read as the effect of that input alone, and never as a causal effect without a causal design. Ask: what does the intercept 1.54 mean? The prediction at RHOB = 0, a meaningless extrapolation. [3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loss L is the mean squared residual over the n training rows, where a residual is y minus ŷ. Squaring makes all residuals positive and weights large misses heavily: a residual of 4 costs 16 times as much as a residual of 1.</a:t>
            </a:r>
          </a:p>
          <a:p/>
          <a:p>
            <a:r>
              <a:t>For ordinary linear regression this loss is convex, so there is a single minimum. Optional derivation for the mathematically inclined: setting the gradient to zero gives the normal equations XᵀX w = Xᵀy. Writing w = (XᵀX)⁻¹Xᵀy requires full column rank and is numerically fragile when inputs are nearly collinear; libraries use QR or SVD factorizations or a pseudoinverse instead.</a:t>
            </a:r>
          </a:p>
          <a:p/>
          <a:p>
            <a:r>
              <a:t>Ask: what happens when two inputs are perfect copies of each other? XᵀX is singular and the weights are not unique; any split of the weight between the copies fits equally well. Ridge regression, later in this part, fixes that. [2 min]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showing the right panel, ask learners to predict the sign of the residuals at both ends of the input range and in the middle. The straight line underestimates at both ends and overestimates in the middle, so residuals are positive, then negative, then positive: a curved pattern.</a:t>
            </a:r>
          </a:p>
          <a:p/>
          <a:p>
            <a:r>
              <a:t>A residual plot is the most useful single diagnostic for regression. Look for curvature (missing structure, try a transform or basis expansion), a spread that grows with the prediction (heteroscedasticity, consider a log target), isolated large residuals (outliers or data errors), and systematic offsets by group.</a:t>
            </a:r>
          </a:p>
          <a:p/>
          <a:p>
            <a:r>
              <a:t>For energy data, plot residuals by well, by operating regime or by time. A small overall error can hide one well that is badly wrong, and that well may be the one the decision depends on. [2 min]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Least squares has a closed-form solution, but most models do not, so we introduce the general tool now. Gradient descent moves each weight a small step against the gradient of the loss: the gradient points uphill, so we step downhill. α is the learning rate.</a:t>
            </a:r>
          </a:p>
          <a:p/>
          <a:p>
            <a:r>
              <a:t>Work the numbers aloud. Prediction wx = 1 × 2 = 2. Squared error (5 − 2)² = 9. Gradient 2x(wx − y) = 2 × 2 × (2 − 5) = −12. New weight 1 − 0.1 × (−12) = 2.2. New prediction 4.4. Ask learners to compute the new squared error: (5 − 4.4)² = 0.36, down from 9.</a:t>
            </a:r>
          </a:p>
          <a:p/>
          <a:p>
            <a:r>
              <a:t>The example fixes the intercept for simplicity. With many rows, the gradient is the average over rows (batch) or over a random subset (mini-batch). A learning rate that is too large can overshoot and increase the loss; one that is too small wastes iterations. The neural network course builds on exactly this step. [3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contours show a loss that is five times steeper in the second parameter than in the first. Each step moves perpendicular to the contour, which points mostly across the narrow valley, so the path overshoots and zigzags in w₂ while making slow progress in w₁.</a:t>
            </a:r>
          </a:p>
          <a:p/>
          <a:p>
            <a:r>
              <a:t>The practical lesson: when inputs have very different scales, the loss surface becomes elongated in exactly this way. Standardizing inputs makes the curvatures more similar and gradient descent converges faster. That is one more reason scaling appears in almost every pipeline that uses gradient-based fitting.</a:t>
            </a:r>
          </a:p>
          <a:p/>
          <a:p>
            <a:r>
              <a:t>Ask: what would a larger learning rate do here? Beyond a critical value (0.2 for this loss, where the w₂ direction has curvature 10) the zigzag grows instead of shrinking and the method diverges. [2 min]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straight line cannot follow the curved head–flow relationship in the top panel. Adding columns z², z³, where z is the standardized flow, lets the same least-squares machinery fit a curve. The model stays linear in its weights; only the inputs are transformed.</a:t>
            </a:r>
          </a:p>
          <a:p/>
          <a:p>
            <a:r>
              <a:t>The bottom panel shows why. The fitted curve is the intercept (1,341 m) plus three weighted terms: w₁z with w₁ = −215, w₂z² with w₂ = −93, and w₃z³ with w₃ = −13. Each term is a simple shape; their sum is the orange curve.</a:t>
            </a:r>
          </a:p>
          <a:p/>
          <a:p>
            <a:r>
              <a:t>Standardize first: powers of raw flows around 1,000 would span nine orders of magnitude and make the problem ill-conditioned. Other bases include splines and physically motivated transforms such as log RT.</a:t>
            </a:r>
          </a:p>
          <a:p/>
          <a:p>
            <a:r>
              <a:t>In scikit-learn: make_pipeline(PolynomialFeatures(3), StandardScaler(), LinearRegression()). Ask: what is the danger of degree 15? Wild oscillation between data points, the subject of the next slides. [3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Capacity is how flexible a model family is. Degree 0 predicts a constant and misses the structure: underfitting. Degree 2 matches the generating function closely. Degree 12 passes near every training point and swings wildly between and beyond them: overfitting, fitting the noise.</a:t>
            </a:r>
          </a:p>
          <a:p/>
          <a:p>
            <a:r>
              <a:t>Ask which model fits the training data best: degree 12 has the smallest training error. Ask which you would trust for a new x: degree 2. The training error cannot choose the capacity; it always prefers more.</a:t>
            </a:r>
          </a:p>
          <a:p/>
          <a:p>
            <a:r>
              <a:t>Do not choose a model by how attractive its curve looks, and remember that this figure shows one dataset: the right degree depends on the data. Held-out data drawn like the deployment population decide, which the next slide does systematically. [2 min]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validation curve: training RMSE keeps falling as the degree grows, while cross-validated RMSE falls to a minimum at degree 2, the true degree here (0.248, with degree 3 practically tied at 0.250), then rises from degree 5 and steeply beyond degree 7 as the model fits noise. At the minimum, both errors sit close to the noise SD of 0.24, the error no model can remove; a training RMSE well below it (0.19 at degree 12) is a sign of fitting noise. Choose the degree at or near the minimum, preferring the simpler model when scores are within noise.</a:t>
            </a:r>
          </a:p>
          <a:p/>
          <a:p>
            <a:r>
              <a:t>Middle, a learning curve for degree 1: training and validation errors converge quickly and both stay near 0.52, far above the noise level of 0.24. More data will not help; the model is too simple (high bias).</a:t>
            </a:r>
          </a:p>
          <a:p/>
          <a:p>
            <a:r>
              <a:t>Right, degree 9: with few rows the validation error is huge and far above training error; the gap closes as rows increase and both approach the noise floor. More data would help this flexible model (high variance).</a:t>
            </a:r>
          </a:p>
          <a:p/>
          <a:p>
            <a:r>
              <a:t>In scikit-learn these are validation_curve and learning_curve; both accept groups and a grouped cv. Ask: which diagnosis fits the motivating case? Neither directly: its problem was the split, a reminder that curves are only as honest as their folds. [3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squared error, the expected prediction error at a point decomposes into squared bias, variance and irreducible noise. Bias is systematic error from a model too simple for the structure. Variance is sensitivity to the particular training sample: fit the same flexible model on another sample and the predictions change. Noise is what no model can remove.</a:t>
            </a:r>
          </a:p>
          <a:p/>
          <a:p>
            <a:r>
              <a:t>As capacity grows, bias falls and variance rises; the total is smallest somewhere in between. This is the story behind the validation curve on the previous slide.</a:t>
            </a:r>
          </a:p>
          <a:p/>
          <a:p>
            <a:r>
              <a:t>Caveat: the classical picture is useful but not a universal law. Heavily overparameterized models, including large neural networks, can behave differently. Diagnose actual behaviour with held-out learning and validation curves rather than assuming the U-shape. Ask: which lever reduces variance without changing the model family? More data, averaging (Module 2) or regularization, next. [2 min]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Regularization adds a penalty on the size of the weights to the least-squares loss. α controls its strength: α = 0 is ordinary least squares; very large α pushes all weights towards zero.</a:t>
            </a:r>
          </a:p>
          <a:p/>
          <a:p>
            <a:r>
              <a:t>Ridge penalizes squared weights and shrinks them smoothly; with correlated inputs it spreads weight across them and stabilizes the fit. Lasso penalizes absolute weights and can set some exactly to zero, a built-in feature selection. Elastic net mixes both, keeping sparsity while behaving better when inputs are correlated.</a:t>
            </a:r>
          </a:p>
          <a:p/>
          <a:p>
            <a:r>
              <a:t>Details that matter in practice: the penalty compares weights across inputs, so inputs must be on comparable scales (standardize first). Libraries scale α differently relative to the loss, so α values are not portable between libraries or even between Ridge and Lasso in scikit-learn. The intercept is not penalized. Ridge does not perform exact selection, and lasso may pick one of several correlated features arbitrarily. [2 min]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penalty can be written as a constraint: minimize the squared loss while keeping |w₁| + |w₂| ≤ t (lasso) or w₁² + w₂² ≤ t² (ridge). For every α there is a matching budget t.</a:t>
            </a:r>
          </a:p>
          <a:p/>
          <a:p>
            <a:r>
              <a:t>The grey ellipses are contours of the squared loss around the least-squares solution ŵ = (2.0, 0.75). The constrained solution is where the smallest contour touches the allowed region. The diamond's corners stick out along the axes, so the contour often touches a corner: here exactly (1, 0), with w₂ = 0. The circle is smooth, so its touching point, (0.90, 0.43), generally has both weights nonzero.</a:t>
            </a:r>
          </a:p>
          <a:p/>
          <a:p>
            <a:r>
              <a:t>The middle panel mixes the two penalties equally. Its region keeps corners on the axes but its edges bulge outwards; here the fit lands at (0.89, 0.25), shrinking w₂ harder than ridge without zeroing it. With other data, elastic net also returns exact zeros.</a:t>
            </a:r>
          </a:p>
          <a:p/>
          <a:p>
            <a:r>
              <a:t>In more dimensions the diamond has many corners and edges on the axes, which is why lasso produces sparse solutions. Ask: if w₂ belongs to a useful but correlated feature, which penalty would you prefer? Ridge or elastic net, to keep it. [3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the ridge path from left to right. With little penalty, the coefficients are close to least squares. As α grows they shrink towards zero together, smoothly, and none becomes exactly zero at any finite α.</a:t>
            </a:r>
          </a:p>
          <a:p/>
          <a:p>
            <a:r>
              <a:t>Look at features 1 and 2, which are highly correlated by construction: as the penalty grows, ridge moves weight from feature 1 to feature 2 so that they share the effect, then shrinks both. That sharing is the stabilizing behaviour we want with collinear logs.</a:t>
            </a:r>
          </a:p>
          <a:p/>
          <a:p>
            <a:r>
              <a:t>Ask why the preferred α cannot be read from this plot. The path shows what the model does, not how well it predicts; the choice comes from cross-validated error at each α, for example with RidgeCV. Also note that shrinking coefficients can reduce variance but eventually underfits. [2 min]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path from right to left. For α at or above 3.14 every weight is exactly zero; in scikit-learn's scaling this threshold is the largest |xⱼᵀy| over the standardized features, divided by the number of rows. As α decreases, feature 1 enters first, then feature 3, then feature 2 and feature 4. Feature 5, which has no true effect, stays at or very near zero.</a:t>
            </a:r>
          </a:p>
          <a:p/>
          <a:p>
            <a:r>
              <a:t>Compare with ridge: lasso reaches exact zeros, so it performs selection. With the correlated pair, lasso keeps feature 1 strongly and holds feature 2 at zero until α is small; which of the two survives can change with a small change in the data, so lasso selections among correlated features are unstable. Elastic net reduces that instability.</a:t>
            </a:r>
          </a:p>
          <a:p/>
          <a:p>
            <a:r>
              <a:t>Use LassoCV or ElasticNetCV with grouped folds to choose α. Ask: would you report the zeroed features as irrelevant to the physics? No: they may be redundant given the others, not irrelevant. [3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squared loss grows with the square of the residual, so one residual of 4 costs as much as sixteen residuals of 1. Huber loss is quadratic up to a threshold δ and linear beyond it; absolute loss is linear everywhere.</a:t>
            </a:r>
          </a:p>
          <a:p/>
          <a:p>
            <a:r>
              <a:t>Right: a synthetic ESP liquid rate that truly rises by 10 m³/d per Hz, with five spiky meter readings at high frequency. Least squares tilts the line towards the spikes: slope 16.8. HuberRegressor, with its default threshold on scaled residuals (epsilon = 1.35), largely ignores them: slope 11.0, close to the generating 10.</a:t>
            </a:r>
          </a:p>
          <a:p/>
          <a:p>
            <a:r>
              <a:t>Robust losses are a safety net, not a substitute for auditing. If the spikes are meter errors, remove or flag them and document the rule. If they are real events, they may be exactly what the decision cares about, and down-weighting them would hide them. Ask learners which it is for their own data. [2 min]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Mean absolute error (MAE) averages the absolute residuals and is in target units: easy to explain. Root mean squared error (RMSE) squares, averages and takes the root: also in target units, but large misses count more. The ratio RMSE/MAE grows when a few large errors dominate. Worked example: residuals 1, −1 and 4 give MAE 2 and RMSE √6 ≈ 2.45.</a:t>
            </a:r>
          </a:p>
          <a:p/>
          <a:p>
            <a:r>
              <a:t>R² compares the model's squared error with that of predicting the mean of the evaluation targets: 1 is perfect, 0 is no better than the mean, and negative values are worse than the mean. Because the denominator depends on the evaluation set, R² is not comparable across datasets with different spreads, and a high R² does not guarantee an acceptable error in physical units.</a:t>
            </a:r>
          </a:p>
          <a:p/>
          <a:p>
            <a:r>
              <a:t>Choose the metric from the decision: if a 20 m³/d miss costs twice a 10 m³/d miss, MAE fits; if large misses are disproportionately costly, RMSE. [2 min]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3 minutes, then work it on the board [4 min].</a:t>
            </a:r>
          </a:p>
          <a:p/>
          <a:p>
            <a:r>
              <a:t>Residuals y − ŷ: 1, −1, 0, 4. MAE = (1 + 1 + 0 + 4)/4 = 1.5. Squared residuals 1, 1, 0, 16, sum 18, mean 4.5, so RMSE = √4.5 ≈ 2.12.</a:t>
            </a:r>
          </a:p>
          <a:p/>
          <a:p>
            <a:r>
              <a:t>R²: the total sum of squares around the mean 11.5 is (−1.5)² + 0.5² + (−2.5)² + 3.5² = 2.25 + 0.25 + 6.25 + 12.25 = 21. R² = 1 − 18/21 ≈ 0.14. The model barely beats predicting the mean, although three of four predictions are within 1 unit.</a:t>
            </a:r>
          </a:p>
          <a:p/>
          <a:p>
            <a:r>
              <a:t>The one miss of 4 contributes 16 of the 18 squared units, so RMSE (2.12) is well above MAE (1.5) and R² is low. Common errors: forgetting the square root, dividing by n − 1, or computing R² around the mean of the predictions. Transition: in Lab 1 you will compute the same metrics with scikit-learn and add a baseline row.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40 minutes of work, then the 10-minute debrief before lunch (11:50–12:40). Pairs are fine.</a:t>
            </a:r>
          </a:p>
          <a:p/>
          <a:p>
            <a:r>
              <a:t>Setup: the notebook loads the California housing data with fetch_california_housing, which downloads about 0.4 MB on first use and caches it in the scikit-learn data folder. Run the solution notebook's loading cell on every machine before the day, or copy a pre-filled cache; offline, the cell stops with a message that says what to do. It is not an energy dataset, but the mechanics transfer directly.</a:t>
            </a:r>
          </a:p>
          <a:p/>
          <a:p>
            <a:r>
              <a:t>Instructions to give: the notebook splits before any fitting: 16,512 training rows, and 4,128 held-out rows halved into validation and test rows. Training rows fit the scaler, the polynomial features and the models; validation rows compare models and choose α; the test rows stay closed until §2.3, where the locked model is scored once. In §2 use Lasso(max_iter=10000) as the notebook suggests to avoid convergence warnings.</a:t>
            </a:r>
          </a:p>
          <a:p/>
          <a:p>
            <a:r>
              <a:t>In §1.3 the notebook fits raw MedInc powers and then the same polynomials with standardized columns. Ask learners to predict what happens to training R² at degree 15; the debrief explains the difference.</a:t>
            </a:r>
          </a:p>
          <a:p/>
          <a:p>
            <a:r>
              <a:t>Common errors to watch for: scaling before splitting; choosing α on the test rows, or reopening them after §2.3; reading lasso zeros as "irrelevant features". Fast finishers: replace the single validation split with 5-fold cross-validation on the training rows for the α choice (RidgeCV or LassoCV).</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Debrief for the last 10 minutes before lunch. Numbers come from the solution notebook run in a fresh kernel with scikit-learn 1.9. Ask two teams to show their score tables; check that the baseline row comes first and that every row uses the same validation rows and metric. Validation scores: DummyRegressor R² −0.001, MAE 0.91 (units of 100,000 dollars); linear 0.59, MAE 0.53; degree 2 on the standardized features 0.66, MAE 0.46.</a:t>
            </a:r>
          </a:p>
          <a:p/>
          <a:p>
            <a:r>
              <a:t>The surprise is §1.3. With raw MedInc powers, training R² rises from 0.477 (degree 1) to 0.491 (degree 5), then falls to 0.113 at degree 15. A bigger nested model cannot fit the training rows worse, so the solver failed on ill-conditioned powers up to 15¹⁵. The failed value depends on the version (0.398 with scikit-learn 1.7; 1.9 truncates small singular values at LinearRegression's tol), and in 1.9 standardizing MedInc before the powers is not enough. With the polynomial columns standardized, degree 15 gives training 0.49 and validation 0.48. With 16,512 rows and one feature there is little room to overfit.</a:t>
            </a:r>
          </a:p>
          <a:p/>
          <a:p>
            <a:r>
              <a:t>§2: lasso keeps 27 of 44 terms at α = 0.01, 6 at 0.1, 1 at 1 and none from 10 upwards, where it equals the baseline. Ridge scores 0.654–0.664 on validation, best at α = 0.01; that locked model scores test R² 0.63 and MAE 0.47 (baseline 0.00 and 0.91). The candidates were nearly tied, so selection explains little of the drop from 0.66: the two halves of the held-out rows simply differ. Ask: is one validation split enough to choose α? No; the ridge scores differ by at most 0.01, less than that gap, so use cross-validation.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5 runs about 60 minutes. For each model family we ask the same three questions: what shape of boundary can it draw, what does it learn from the training rows, and what do we have to tune and preprocess?</a:t>
            </a:r>
          </a:p>
          <a:p/>
          <a:p>
            <a:r>
              <a:t>Several figures reuse the same synthetic "moons" data so that boundaries can be compared; the facies examples use synthetic sand, shale and carbonate samples. None of this is a benchmark: the purpose is to see assumptions, not to crown a winner.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is a linear model for the log-odds. It computes a score z = b + wᵀx exactly like linear regression, then squeezes it through the sigmoid σ into a probability between 0 and 1.</a:t>
            </a:r>
          </a:p>
          <a:p/>
          <a:p>
            <a:r>
              <a:t>Top panel: the fitted log-odds z = −12.33 + 0.174 × GR is a straight line. Bottom panel: the same model as a probability of shale. At GR = 71 API, z = 0 and p = 0.5. Every extra 10 API multiplies the odds of shale by e^(10 × 0.174) ≈ 5.7.</a:t>
            </a:r>
          </a:p>
          <a:p/>
          <a:p>
            <a:r>
              <a:t>Odds are p/(1 − p): p = 0.8 means odds of 4 to 1. Interpreting weights as odds multipliers is the classic strength of this model, with the same cautions as for linear weights: units and correlated inputs matter.</a:t>
            </a:r>
          </a:p>
          <a:p/>
          <a:p>
            <a:r>
              <a:t>Ask: why not use linear regression on 0/1 labels? Its predictions can fall below 0 or above 1, and squared loss is a poor fit for probabilities. [3 min]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two inputs, z = b + w₁·GR + w₂·NPHI, and the set where z = 0 is a straight line: the decision boundary at probability 0.5. The dashed lines are the 0.1 and 0.9 contours; they are parallel because every contour is a line z = constant.</a:t>
            </a:r>
          </a:p>
          <a:p/>
          <a:p>
            <a:r>
              <a:t>Points close to the boundary get probabilities near 0.5; the model is uncertain there. Far from it, probabilities approach 0 or 1.</a:t>
            </a:r>
          </a:p>
          <a:p/>
          <a:p>
            <a:r>
              <a:t>Two notes. First, "linear boundary" refers to the input space you give the model: adding squared terms or interactions (basis expansion from part 4) produces curved boundaries while the model stays linear in its weights. Second, a probability of 0.5 is not automatically the right decision threshold; the costs of false alarms and misses decide that, as part 6 shows. [2 min]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is fitted by minimizing the average log loss, also called binary cross-entropy, over the training rows. For a row whose true label is 1, the loss is −ln p; for a true 0 it is −ln(1 − p).</a:t>
            </a:r>
          </a:p>
          <a:p/>
          <a:p>
            <a:r>
              <a:t>Work the marked values: a true shale predicted at p = 0.9 costs −ln 0.9 = 0.105; at p = 0.5 it costs 0.693; at p = 0.1 it costs 2.303, about 22 times the confident correct case. As p approaches 0 for a true 1, the loss grows without bound. Confident mistakes dominate the total.</a:t>
            </a:r>
          </a:p>
          <a:p/>
          <a:p>
            <a:r>
              <a:t>There is no closed-form solution, so solvers such as lbfgs iterate, using gradients as in part 4. scikit-learn adds an L2 penalty by default. The same loss trains classification neural networks in the second course, and Module 5 assesses probability calibration with reliability diagrams and the Brier score. [2 min]</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each step on the board. The inputs are z-scores: the sample's GR is 1.2 standard deviations above the training mean and its density 0.5 below.</a:t>
            </a:r>
          </a:p>
          <a:p/>
          <a:p>
            <a:r>
              <a:t>Score: z = b + w_GR × 1.2 + w_RHOB × (−0.5) = −0.4 + 1.8 − 0.4 = 1.0. Probability: σ(1.0) = 1/(1 + e^−1) = 1/(1 + 0.368) = 0.731. Decision: with a threshold of 0.5 we predict shale. Loss: if the sample really is shale, the loss is −ln 0.731 = 0.313; if it is sand, the loss is −ln(1 − 0.731) = −ln 0.269 = 1.313.</a:t>
            </a:r>
          </a:p>
          <a:p/>
          <a:p>
            <a:r>
              <a:t>Ask: which input pushed the prediction towards shale? GR, contributing +1.8. Density contributed −0.4 because this sample is lighter than average, which points towards sand. A coefficient can only be read this way because both inputs share the same scale, one more benefit of standardization.</a:t>
            </a:r>
          </a:p>
          <a:p/>
          <a:p>
            <a:r>
              <a:t>Common error: applying the sigmoid to each term separately instead of to the total score. [3 min]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pattern. The pipeline standardizes inputs with training statistics and fits logistic regression. predict_proba returns one column per class; column 1 is the probability of the positive class. Thresholding gives class predictions; clf.predict does the same with 0.5 for two classes.</a:t>
            </a:r>
          </a:p>
          <a:p/>
          <a:p>
            <a:r>
              <a:t>C is the inverse of the regularization strength: C = 1 is moderate, C = 0.01 shrinks the weights strongly, and very large C approaches an unpenalized fit. Tune it like α, inside cross-validation. max_iter=1000 avoids convergence warnings on poorly scaled data.</a:t>
            </a:r>
          </a:p>
          <a:p/>
          <a:p>
            <a:r>
              <a:t>For facies with five classes the same code works: with the default lbfgs solver the model fits a multinomial (softmax) model that outputs five probabilities per row, summing to 1.</a:t>
            </a:r>
          </a:p>
          <a:p/>
          <a:p>
            <a:r>
              <a:t>X_train, y_train and X_val stand for your training and validation arrays. Ask: why is the threshold a separate decision from the model? Because it encodes the costs of false alarms and misses, which the model does not know. [2 min]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K-nearest neighbours (KNN) has no training step beyond storing the rows. For a query it measures the distance to every stored row, takes the K closest and predicts by majority vote (classification) or by averaging their targets (regression).</a:t>
            </a:r>
          </a:p>
          <a:p/>
          <a:p>
            <a:r>
              <a:t>Work a vote: neighbour labels 1, 0, 1, 1, 0 give three votes for class 1 and two for class 0, so K = 5 predicts class 1. With an even K, ties need a rule; weights="distance" makes closer neighbours count more and breaks most ties.</a:t>
            </a:r>
          </a:p>
          <a:p/>
          <a:p>
            <a:r>
              <a:t>Costs and caveats: prediction requires distances to all stored rows, which can be slow for large datasets at the wellsite. Missing values must be imputed before any distance is computed. Distances depend on feature scales, so standardization is part of the model. The Lab 2 extension notebook builds KNN from scratch with NumPy and checks it against scikit-learn. [2 min]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 is KNN's capacity dial, in the opposite direction to polynomial degree. K = 1 draws a boundary around every training point, including isolated islands for single noisy points: low bias, high variance. K = 7 smooths most islands away. K = 31 is smoother still and starts to cut across the curved moons: higher bias, lower variance.</a:t>
            </a:r>
          </a:p>
          <a:p/>
          <a:p>
            <a:r>
              <a:t>Ask which differences would be unstable if we resampled the data: the small islands at K = 1. They come from individual points and would move with every new sample.</a:t>
            </a:r>
          </a:p>
          <a:p/>
          <a:p>
            <a:r>
              <a:t>The right K depends on validation performance and on local sample density; choose it with grouped cross-validation for well data. Recall the motivating case: K = 1 with random folds looked excellent precisely because each validation sample's nearest neighbour was its own neighbour in depth. [2 min]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query (star) is a low-GR, low-density sample: by its density it looks like sandstone. In raw units, a difference of 10 API in GR contributes 100 to the squared distance, while a difference of 0.25 g/cm³ in density contributes only 0.06. Distance is therefore almost pure GR, and the five nearest rows are the ones with GR close to 28, all limestone, despite their much higher density: the vote is 0 sand to 5 limestone.</a:t>
            </a:r>
          </a:p>
          <a:p/>
          <a:p>
            <a:r>
              <a:t>After standardization, each feature is measured in its own standard deviations, density differences count, and all five neighbours are sandstone.</a:t>
            </a:r>
          </a:p>
          <a:p/>
          <a:p>
            <a:r>
              <a:t>Standardization is itself a modelling choice: it gives every feature equal weight, which may not be right either. Domain weighting or feature selection can be better. Whatever the scaling, fit it on training rows inside each fold. [2 min]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Euclidean distance is the default and is dominated by features with large ranges or large differences. Manhattan distance sums absolute differences, so a single large difference contributes linearly instead of quadratically. Cosine distance compares the direction of two vectors and ignores their length.</a:t>
            </a:r>
          </a:p>
          <a:p/>
          <a:p>
            <a:r>
              <a:t>Ask whether two production profiles with the same shape but different magnitudes should count as similar. With cosine distance they are identical; with Euclidean distance they are far apart. The right answer depends on the decision: shape of decline, or volume?</a:t>
            </a:r>
          </a:p>
          <a:p/>
          <a:p>
            <a:r>
              <a:t>The note at the bottom previews the curse of dimensionality: with many irrelevant features, distances concentrate and "nearest" loses meaning. Module 4 covers this with feature selection and dimensionality reduction. [2 min]</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support vector machine (SVM) looks for the separating line, or hyperplane, with the widest margin: the widest empty band between the classes. The solid line is the decision boundary; the dashed lines are the margins.</a:t>
            </a:r>
          </a:p>
          <a:p/>
          <a:p>
            <a:r>
              <a:t>Only the circled points, the support vectors, determine the boundary: move any other point without crossing the margin and the fit does not change. The geometric margin width is 2 divided by the norm of the weight vector, so a wide margin means small weights, a form of regularization.</a:t>
            </a:r>
          </a:p>
          <a:p/>
          <a:p>
            <a:r>
              <a:t>In this soft-margin fit, three circled points lie inside the margin and three exactly on it. None is on the wrong side here, but a soft margin allows that too; every violation costs a penalty controlled by C. Ask: what happens if you add a far-away point on the correct side? Nothing: it is not a support vector. [2 min]</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the SVM score as f(x) and code the labels as −1 and +1. The margin m = y·f(x) is positive when the row is on the correct side and larger the further inside its own class it is.</a:t>
            </a:r>
          </a:p>
          <a:p/>
          <a:p>
            <a:r>
              <a:t>The SVM minimizes the hinge loss max(0, 1 − m) plus a penalty on the weights. Rows with m ≥ 1, correct and outside the margin, cost nothing and do not influence the fit; that is exactly why only support vectors matter. Rows inside the margin or misclassified pay linearly.</a:t>
            </a:r>
          </a:p>
          <a:p/>
          <a:p>
            <a:r>
              <a:t>Logistic regression's loss, drawn here in base 2 so it passes through 1 at m = 0, is a smooth version that never reaches zero: every row pulls a little. Both are convex surrogates for the 0–1 error, which counts mistakes but cannot be optimized directly.</a:t>
            </a:r>
          </a:p>
          <a:p/>
          <a:p>
            <a:r>
              <a:t>Consequence: SVM scores are not probabilities. SVC(probability=True) adds an internal calibration step, whose evaluation belongs to Module 5. [3 min]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f(x) = wᵀx + b is the SVM score and ‖w‖ the length of the weight vector; minimizing ½‖w‖² widens the margin 2/‖w‖. C multiplies the total hinge loss relative to that margin penalty. With small C, violating the margin is cheap, so the SVM prefers a wide margin with more points inside it: more support vectors and a smoother, more regularized boundary. With large C, violations are expensive, so the margin narrows to classify more training rows correctly, which can mean fitting noise.</a:t>
            </a:r>
          </a:p>
          <a:p/>
          <a:p>
            <a:r>
              <a:t>Avoid the slogan "larger C always overfits": the effect depends on the data, the kernel and γ. Search C on a logarithmic grid (0.1, 1, 10, 100), jointly with γ for the RBF kernel, inside cross-validation and after scaling, which SVMs require because the kernel uses distances.</a:t>
            </a:r>
          </a:p>
          <a:p/>
          <a:p>
            <a:r>
              <a:t>Note the relationship with logistic regression's C in scikit-learn: in both, C is an inverse regularization strength. [2 min]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class 0 (blue) sits between two groups of class 1 (orange) on one feature. No single threshold separates them.</a:t>
            </a:r>
          </a:p>
          <a:p/>
          <a:p>
            <a:r>
              <a:t>Bottom: add the feature x². Each point moves onto the parabola, and now a horizontal line separates the classes. The maximum-margin line lies midway between the highest blue point (0.81) and the lowest orange point (1.69), at x² = 1.25. Mapped back to x, one straight line in the lifted space becomes two thresholds, x = ±1.12.</a:t>
            </a:r>
          </a:p>
          <a:p/>
          <a:p>
            <a:r>
              <a:t>The kernel trick: an SVM needs only dot products between rows. A kernel function computes the dot product in a lifted feature space directly from the original inputs, so the lift never has to be built explicitly. A polynomial kernel corresponds to a space of polynomial terms; the RBF kernel corresponds to an infinite-dimensional space. Choosing a kernel does not remove the need for scaling and tuning. [3 min]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data, two kernels. The linear kernel draws a straight boundary and misclassifies the tips of both moons. The RBF (radial basis function) kernel measures similarity as a decreasing function of distance, so the boundary can curve around the data.</a:t>
            </a:r>
          </a:p>
          <a:p/>
          <a:p>
            <a:r>
              <a:t>A polynomial kernel is another option; it corresponds to polynomial basis expansion and can be unstable at high degree. A linear kernel is often a strong choice when there are many features relative to rows.</a:t>
            </a:r>
          </a:p>
          <a:p/>
          <a:p>
            <a:r>
              <a:t>Ask: why does the RBF kernel need standardized inputs? Because it is built on Euclidean distance, the same issue we saw with KNN. [1 min]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γ sets the width of each training row's influence. With γ = 0.1 the influence is wide and the boundary almost linear: training accuracy 0.87, cross-validated 0.86 (underfitting). With γ = 1 the boundary follows the moons: training 0.95, CV 0.93. With γ = 30 each support vector influences only its immediate surroundings and the boundary wraps tightly around the training points: training accuracy rises to 0.97 while CV drops to 0.88 (overfitting).</a:t>
            </a:r>
          </a:p>
          <a:p/>
          <a:p>
            <a:r>
              <a:t>The pattern mirrors K in KNN and degree in polynomials: one hyperparameter moves the model from too smooth to too wiggly, and only held-out data can place it.</a:t>
            </a:r>
          </a:p>
          <a:p/>
          <a:p>
            <a:r>
              <a:t>In scikit-learn the default gamma="scale" sets γ from the number of features and the variance of the training data, a sensible starting point. Tune γ together with C. [2 min]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fitted tree. Split 1 asks whether GR ≤ 70.1 API; low-GR samples go left. Split 2 separates sandstone from limestone by density at 2.48 g/cm³. Split 3 separates a small group of high-GR, low-density samples from shale at 2.38 g/cm³. Each box shows the number of training samples and its Gini impurity; the coloured bars show the class mix in each leaf. Training accuracy is 0.967.</a:t>
            </a:r>
          </a:p>
          <a:p/>
          <a:p>
            <a:r>
              <a:t>Right: the same tree as a partition of the GR–density plane into axis-aligned rectangles, one per leaf. That picture explains both strengths and weaknesses: trees capture thresholds and interactions naturally, but approximate an oblique boundary with a staircase.</a:t>
            </a:r>
          </a:p>
          <a:p/>
          <a:p>
            <a:r>
              <a:t>Point to the third leaf: only 5 samples, with Gini 0.48. Leaves this small give fragile predictions; min_samples_leaf controls them (this tree was grown with min_samples_leaf=5, the smallest leaf it allows). Trees do not need scaling, since they only compare a feature with a threshold. [3 min]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p_k is the share of class k in the node. Gini impurity is 1 minus the sum of squared shares; entropy H sums −p log₂ p. For two classes, Gini is 2p(1 − p), with a maximum of 0.5 at p = 0.5; entropy has a maximum of 1 bit.</a:t>
            </a:r>
          </a:p>
          <a:p/>
          <a:p>
            <a:r>
              <a:t>Worked values at the marked point, a node with 80% sand: Gini = 1 − 0.8² − 0.2² = 0.32; entropy = −0.8 log₂ 0.8 − 0.2 log₂ 0.2 = 0.722 bits.</a:t>
            </a:r>
          </a:p>
          <a:p/>
          <a:p>
            <a:r>
              <a:t>To choose a split, the tree computes the impurity of each child, weights it by the child's share of samples and subtracts the result from the parent's impurity. The split with the largest decrease wins. Misclassification error is also shown: it is less sensitive to changes in the class mix, which is why it is rarely used to grow trees. In scikit-learn, criterion="gini" is the default and criterion="entropy" the alternative; they usually agree. [2 min]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4 minutes; work it on the board [5 min].</a:t>
            </a:r>
          </a:p>
          <a:p/>
          <a:p>
            <a:r>
              <a:t>Parent: 1 − 0.5² − 0.5² = 0.5.</a:t>
            </a:r>
          </a:p>
          <a:p/>
          <a:p>
            <a:r>
              <a:t>Split A: left child 8/2, Gini = 1 − 0.8² − 0.2² = 0.32; right child 2/8, also 0.32. Weighted: (10 × 0.32 + 10 × 0.32)/20 = 0.32. Decrease: 0.5 − 0.32 = 0.18.</a:t>
            </a:r>
          </a:p>
          <a:p/>
          <a:p>
            <a:r>
              <a:t>Split B: left child 9/5 of 14, Gini = 1 − (9/14)² − (5/14)² = 1 − 0.413 − 0.128 = 0.459; right child 1/5 of 6, Gini = 1 − (1/6)² − (5/6)² = 1 − 0.028 − 0.694 = 0.278. Weighted: (14 × 0.459 + 6 × 0.278)/20 = (6.43 + 1.67)/20 = 0.405. Decrease: 0.095.</a:t>
            </a:r>
          </a:p>
          <a:p/>
          <a:p>
            <a:r>
              <a:t>Split A wins with a decrease of 0.18 against 0.095. Split B's right child is purer, but it holds only 6 of 20 samples; the weighting rewards splits that clean up many samples. Common errors: forgetting to weight by child size, and using counts instead of shares inside the squares.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numeric target, a tree uses the same recursive splitting but scores splits by the reduction in squared error, and each leaf predicts the mean of its training targets. The result is a step function: here porosity versus depth for a synthetic compaction trend.</a:t>
            </a:r>
          </a:p>
          <a:p/>
          <a:p>
            <a:r>
              <a:t>Depth 2 gives 4 leaves, a coarse staircase that misses the curvature. Depth 5 gives 30 leaves and starts to follow individual noisy samples. The right size is again a validation question.</a:t>
            </a:r>
          </a:p>
          <a:p/>
          <a:p>
            <a:r>
              <a:t>Two properties matter for energy data. Trees cannot extrapolate: beyond 3,000 m, the grey band with no training data, both trees stay flat at their last leaf's value while the dotted generating trend keeps falling. And steps create discontinuities that can be unphysical for smooth quantities. Ensembles of trees in Module 2 smooth the steps but keep the extrapolation limit. [2 min]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 2 draws a few large rectangles and misclassifies parts of both moons. Depth 5 follows the curved shapes with a staircase. Unrestricted depth keeps splitting until every leaf is pure, carving thin slivers around single training points: a classic overfit.</a:t>
            </a:r>
          </a:p>
          <a:p/>
          <a:p>
            <a:r>
              <a:t>Controls in scikit-learn: max_depth limits depth; min_samples_leaf sets a minimum leaf size; max_leaf_nodes caps the number of leaves; ccp_alpha applies cost-complexity pruning after growing. All are hyperparameters for grouped cross-validation.</a:t>
            </a:r>
          </a:p>
          <a:p/>
          <a:p>
            <a:r>
              <a:t>A shallow tree is easy to inspect, which is valuable, but interpretability does not guarantee correctness or stability: small changes in the data can change the top split and the whole tree below it. Module 2 turns that instability into an asset with bagging and random forests. [2 min]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45 minutes, then a 10-minute debrief. Suggested split: 20 minutes on sections 3 and 4 of the basics notebook, 25 minutes on the facies notebook in exercises/04_facies_classification.</a:t>
            </a:r>
          </a:p>
          <a:p/>
          <a:p>
            <a:r>
              <a:t>Basics notebook: Iris is small and clean; its purpose here is mechanics. The notebook compares K and depth with 5-fold stratified cross-validation on the 120 training rows, next to a DummyClassifier baseline, and opens the 30 test rows once, in §4.3, for the locked choice. Ask learners how many rows each fold and the test set hold (24 and 30).</a:t>
            </a:r>
          </a:p>
          <a:p/>
          <a:p>
            <a:r>
              <a:t>Facies notebook: do not aim to finish the random forest. Load and merge the files, then build the audit table per well in §2.1: rows, missing GR and PE, and values outside plausible ranges (compare each curve's maximum with its median). Then read section 6 (SHANKLE held out as the test well), section 7 (baseline and default forest on GroupKFold folds of whole wells, with shuffled row folds for contrast) and section 9 (grouped tuning with groups passed to fit), and write their own plan for keeping wells apart. The notebook uses seaborn, which is in requirements-labs.txt.</a:t>
            </a:r>
          </a:p>
          <a:p/>
          <a:p>
            <a:r>
              <a:t>Extension for fast finishers: the KNN-from-scratch notebook (exercises/02_knn_from_scratch). Common errors: dropping every row with a missing PE (which deletes two wells) and treating Well Name as a feature.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computed from the supplied file. PE is missing in 917 of 4,149 rows (22.1%): all of ALEXANDER D and KIMZEY A and 15% of Recruit F9. Median imputation alone would invent PE for two wells that never had it; the notebook adds missing-value indicators inside its pipeline, and models with and without PE are another option. Twelve PE values lie between 326 and 328.5 against a median of 3.56 (the notebook sets PE above 20 to missing), and 25 GR values exceed 200 API (maximum 361): flag them before training. GR is missing in 7.8% of rows, 5–10% in every well, a pattern that looks random and deserves a question to the data owner.</a:t>
            </a:r>
          </a:p>
          <a:p/>
          <a:p>
            <a:r>
              <a:t>Other findings: Recruit F9 has only 80 rows, all bafflestone, with depths out of order, so treat it with care as a group; the Description column gives depths in metres at 0.5 m spacing, as the notebook states, so confirm units before any depth-derived feature.</a:t>
            </a:r>
          </a:p>
          <a:p/>
          <a:p>
            <a:r>
              <a:t>Iris (120 training rows, 5-fold stratified CV): every K scores 0.94–0.96, within two rows; trees stop improving at depth 3 (0.93); the baseline scores 0.33. The locked K = 5 scores 30/30 on the test rows, opened once; one error would cost 3.3 points, so this test set can confirm a choice but could not rank the candidates.</a:t>
            </a:r>
          </a:p>
          <a:p/>
          <a:p>
            <a:r>
              <a:t>Facies design (sections 6–9): SHANKLE is the test well; baseline, default forest and grid search use GroupKFold(3) on the nine training wells, with groups passed to fit. Well folds give the default forest macro F1 0.38 (baseline 0.04); shuffled row folds report 0.76 for the same model. Tuning reaches 0.40, within the fold spread; SHANKLE, opened once, gives accuracy 0.49 and macro F1 0.38.</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6 runs about 35 minutes and then Lab 3 puts it into practice. We move from single numbers to evidence: counts, per-class metrics, thresholds and fold-score distributions.</a:t>
            </a:r>
          </a:p>
          <a:p/>
          <a:p>
            <a:r>
              <a:t>Module 5 extends this part with precision–recall curves, calibration, rare-event evaluation, nested cross-validation and statistical model comparison; today establishes the habits those tools build on.</a:t>
            </a:r>
          </a:p>
          <a:p/>
          <a:p>
            <a:r>
              <a:t>Opening question: in your last model review, what was reported besides a single score? Most answers are "nothing". By the end of this part every team should report per-class results, all fold scores and one test score for a locked pipeline.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confusion matrix counts every combination of actual and predicted class. With "event" as the positive class: true negatives (85) are correctly quiet, false positives (5) are false alarms, false negatives (3) are missed events, and true positives (7) are caught events.</a:t>
            </a:r>
          </a:p>
          <a:p/>
          <a:p>
            <a:r>
              <a:t>Ask learners to locate the false alarms and the missed events, then ask which costs more for an ESP trip warning. Usually the miss: a trip costs production and possibly a workover, while a false alarm costs an inspection. For other decisions the balance reverses.</a:t>
            </a:r>
          </a:p>
          <a:p/>
          <a:p>
            <a:r>
              <a:t>Every classification metric is a function of these four counts, so always keep them. Conventions differ between libraries and papers; scikit-learn's confusion_matrix puts actual classes in rows and predictions in columns, as here. [2 min]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Allow 3 minutes and require learners to write each denominator. Then reveal the next slide [4 min].</a:t>
            </a:r>
          </a:p>
          <a:p/>
          <a:p>
            <a:r>
              <a:t>Accuracy = (TN + TP)/total = (85 + 7)/100 = 92%. Precision = TP/(TP + FP) = 7/12 = 58.3%: of 12 alerts, 7 were real. Recall = TP/(TP + FN) = 7/10 = 70%: of 10 events, 7 were caught.</a:t>
            </a:r>
          </a:p>
          <a:p/>
          <a:p>
            <a:r>
              <a:t>The always-negative model predicts no event for all 100 rows: TN = 90, FN = 10, TP = FP = 0. Its accuracy is 90%, only 2 points below our model, but its recall is 0% and it produces no useful alerts. Its precision is undefined (0/0).</a:t>
            </a:r>
          </a:p>
          <a:p/>
          <a:p>
            <a:r>
              <a:t>The third question has no single answer; business costs are context-specific and should come from the decision owner, not be assumed by the analyst. Common error: computing precision with FN in the denominator.</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the four numbers side by side. The model's 92% accuracy sounds excellent until you see that a model that never raises an alert scores 90%. With 10% events, accuracy is dominated by the easy majority class.</a:t>
            </a:r>
          </a:p>
          <a:p/>
          <a:p>
            <a:r>
              <a:t>Precision and recall describe the event class directly. Precision answers "when it alerts, how often is it right?" Recall answers "of the real events, how many did it catch?" Both depend on the threshold, and improving one usually costs the other.</a:t>
            </a:r>
          </a:p>
          <a:p/>
          <a:p>
            <a:r>
              <a:t>Tie back to the baselines of part 1: the majority-class baseline belongs in every classification score table precisely because of this effect. Module 5 develops rare-event evaluation, including event-level metrics where one alert per event counts once. [2 min]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Summarize the four tools. Precision matters when each alert triggers an expensive action, such as a crew visit. Recall matters when missing an event is costly, such as a pump trip or a leak. F1, the harmonic mean of precision and recall, is a convenient single number, but it weights the two equally and ignores the actual costs of each error type.</a:t>
            </a:r>
          </a:p>
          <a:p/>
          <a:p>
            <a:r>
              <a:t>For multi-class problems such as facies, compute each metric per class and then average. The macro average gives every class equal weight; the weighted average weights by class frequency and is dominated by common classes. The next slides show the difference on synthetic facies.</a:t>
            </a:r>
          </a:p>
          <a:p/>
          <a:p>
            <a:r>
              <a:t>The threshold changes precision and recall without changing the model's ranking of rows; ROC curves, next, summarize ranking over all thresholds. [2 min]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predicted event probability for the 600 validation rows, by true class. Most non-events score low, events spread widely. At the default threshold of 0.5 the model catches only a third of the events (TPR 0.33) with 2% false alarms (FPR 0.02). Lowering the threshold to 0.2 catches 65% of events at 16% false alarms.</a:t>
            </a:r>
          </a:p>
          <a:p/>
          <a:p>
            <a:r>
              <a:t>Right: the ROC curve plots the true positive rate (recall) against the false positive rate for every threshold. The two operating points are marked. The area under the curve (AUC) is 0.85 with two sensors and 0.73 with one; 0.5 is chance, the dotted diagonal. AUC equals the probability that a random event scores higher than a random non-event.</a:t>
            </a:r>
          </a:p>
          <a:p/>
          <a:p>
            <a:r>
              <a:t>Cautions: AUC measures ranking, not calibration or cost; it says nothing about which threshold to use. With rare events, the false positive rate can look small while false alarms still outnumber true alerts, which is why Module 5 prefers precision–recall curves for rare events. [3 min]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matrix now has five classes: rows are actual facies, columns predicted, and the colour shows the share of each row. Most mass sits on the diagonal. The largest off-diagonal cell is outlined: 104 dolomite samples predicted as limestone, against 117 dolomite samples found.</a:t>
            </a:r>
          </a:p>
          <a:p/>
          <a:p>
            <a:r>
              <a:t>The right panel turns each row into a recall: shale 0.94, limestone 0.90, sandstone 0.85, siltstone 0.79 and dolomite 0.52. Dolomite is the rarest facies (227 of 3,200 samples) and overlaps limestone in these logs.</a:t>
            </a:r>
          </a:p>
          <a:p/>
          <a:p>
            <a:r>
              <a:t>These are geologically sensible confusions: neighbouring facies with similar log responses. In the lab data the notebook mentions similar confusions between siltstone classes. The confusion matrix tells you where to look: here, a better dolomite indicator (for example PE, if run) or a decision to merge classes if the application allows. [3 min]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Computed from the same leave-one-well-out predictions. The macro average of the five recalls is (0.85 + 0.79 + 0.94 + 0.90 + 0.52)/5 = 0.80. The weighted average multiplies each recall by its class share; for recall this equals overall accuracy, 0.86, because the weights cancel the class sizes.</a:t>
            </a:r>
          </a:p>
          <a:p/>
          <a:p>
            <a:r>
              <a:t>Which to report? Both, plus the per-class values. If every facies matters to the decision, as in reservoir modelling where thin carbonates may be key, the macro average is the honest single number. If the decision is about total footage correctly classified, the weighted average fits.</a:t>
            </a:r>
          </a:p>
          <a:p/>
          <a:p>
            <a:r>
              <a:t>scikit-learn's classification_report prints per-class precision, recall and F1 with both averages. In GridSearchCV, scoring="f1_macro" or "balanced_accuracy" (macro recall) keeps rare classes visible during tuning. Ask: which average would the always-shale model do better on? Weighted, since shale is 38% of samples. [2 min]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fold diagram from part 3 in code. make_pipeline chains the steps; calling fit on the pipeline fits each step on the training rows in order, and calling predict applies the fitted steps to new rows. When the pipeline is passed to cross_val_score or GridSearchCV, every fold refits the imputer, the scaler and the model on that fold's training rows only.</a:t>
            </a:r>
          </a:p>
          <a:p/>
          <a:p>
            <a:r>
              <a:t>X must contain numeric predictor columns for this example. Categorical columns such as formation need a ColumnTransformer that applies OneHotEncoder to them and the numeric steps to the rest; Module 2 builds that. Feature selection, if used, also belongs inside the pipeline.</a:t>
            </a:r>
          </a:p>
          <a:p/>
          <a:p>
            <a:r>
              <a:t>Pipelines also make deployment safer: the same object carries the medians, the scaling statistics and the model, so new wells are processed exactly like the training wells. This is a focused fragment; data loading is omitted. [2 min]</a:t>
            </a:r>
          </a:p>
          <a:p/>
          <a:p>
            <a:r>
              <a:t>Reference: https://scikit-learn.org/stable/common_pitfalls.html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procedure on the left. The grid lists every combination of four C values and four γ values. For each of the 16 settings, grouped 3-fold cross-validation on the six training wells gives a mean macro F1. The best mean wins: C = 10, γ = 0.01, with a CV macro F1 of 0.75. GridSearchCV then refits that setting on all six training wells, and only this locked pipeline is scored on the test wells: macro F1 0.76.</a:t>
            </a:r>
          </a:p>
          <a:p/>
          <a:p>
            <a:r>
              <a:t>The heatmap shows the landscape. Large γ (10) fails everywhere, as the gamma slide predicted. Two other settings are within 0.01 of the best (C = 1 with γ = 0.1, and C = 100 with γ = 0.01); with only three folds of two wells each, such differences are noise, and choosing the more regularized setting in that plateau is defensible.</a:t>
            </a:r>
          </a:p>
          <a:p/>
          <a:p>
            <a:r>
              <a:t>That the test score (0.76) happens to be close to the CV score is reassuring but not guaranteed; with two test wells it is one noisy number. Module 5 covers randomized and successive-halving searches and nested cross-validation for an unbiased estimate of the whole tuning procedure. [3 min]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code behind the heatmap. model is the pipeline from the previous slide; parameter names use the step name and a double underscore, so svc__C sets C inside the SVC step. GroupKFold keeps each well in one fold, and passing groups=well_train to fit is essential: without it the splitter has nothing to group by, and scikit-learn raises an error for GroupKFold rather than silently mixing wells.</a:t>
            </a:r>
          </a:p>
          <a:p/>
          <a:p>
            <a:r>
              <a:t>The printed result comes from running exactly this search on wells W1–W6 of the synthetic facies data. With three folds, each fold holds two wells; require at least as many training wells as folds.</a:t>
            </a:r>
          </a:p>
          <a:p/>
          <a:p>
            <a:r>
              <a:t>GroupKFold does not balance classes; with few wells, a rare facies can be absent from a validation fold. StratifiedGroupKFold helps where feasible, but inspect the actual folds and their class counts either way. After the search, evaluate search.best_estimator_ once on the test wells and report that score with the fold scores. [2 min]</a:t>
            </a:r>
          </a:p>
          <a:p/>
          <a:p>
            <a:r>
              <a:t>Reference: https://scikit-learn.org/stable/modules/cross_validation.html</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dot is one held-out well; the black bar is the mean over eight wells. The majority-class baseline scores 0.11 in macro F1, the floor. Logistic regression averages 0.79, the RBF SVM 0.78, KNN with K = 15 0.75, and a depth-5 tree 0.64.</a:t>
            </a:r>
          </a:p>
          <a:p/>
          <a:p>
            <a:r>
              <a:t>Now read the grey lines, which connect the same well across models. Well-to-well differences (roughly 0.64 to 0.90 for the same model) are larger than the differences between the better models. Logistic regression beats the SVM on 4 of 8 wells; the mean difference is +0.008. That is no evidence that either is better. The tree, by contrast, is below logistic regression on every well.</a:t>
            </a:r>
          </a:p>
          <a:p/>
          <a:p>
            <a:r>
              <a:t>Because all models share the folds, paired comparisons are fair; comparing models evaluated on different folds is not. Module 5 adds statistical tests for such paired fold scores; today's habit is to show all fold scores, never just a table of means. [3 min]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is no unconditional winner. Each family has a situation where it is a strong first choice and a characteristic check. Linear and logistic models are fast, interpretable and hard to beat when effects are roughly additive, as the comparison just showed. KNN works when local similarity in a well-scaled space is meaningful, at a prediction cost. SVMs help when a margin or kernel captures the shape of the boundary, but need scaling, tuning of C and γ, and separate calibration for probabilities. Trees capture thresholds and interactions without scaling, at the price of instability.</a:t>
            </a:r>
          </a:p>
          <a:p/>
          <a:p>
            <a:r>
              <a:t>Run comparisons as controlled experiments: same split, same folds, same metric, same preprocessing where applicable, baseline first. Include a domain review of the errors and the inference constraints, for example latency and missing-data behaviour at the wellsite.</a:t>
            </a:r>
          </a:p>
          <a:p/>
          <a:p>
            <a:r>
              <a:t>Ensembles in Module 2 combine several of these ideas. [2 min]</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 minutes, then a 5-minute debrief. The notebook uses the local Sonar data (208 acoustic returns, 60 features, rocks versus mines); no download needed. It creates three partitions before any fitting: training, validation and a reserved final holdout.</a:t>
            </a:r>
          </a:p>
          <a:p/>
          <a:p>
            <a:r>
              <a:t>Section 1 answer: PCA does not use labels, but fitted on all rows it learns directions from the validation and final rows, so they are no longer unseen. In section 5, PCA must go inside the pipeline so that each fold refits it; keep the same cv object for every variant so the comparison is matched.</a:t>
            </a:r>
          </a:p>
          <a:p/>
          <a:p>
            <a:r>
              <a:t>The notebook states that row holdouts are a classroom fallback because acquisition grouping is not supplied. Ask learners to say what grouping they would want if the data came from several survey campaigns.</a:t>
            </a:r>
          </a:p>
          <a:p/>
          <a:p>
            <a:r>
              <a:t>Extension for fast finishers: the KNN-from-scratch notebook (exercises/02_knn_from_scratch), which rebuilds distances, neighbour search and voting in NumPy and checks the result against scikit-learn. Common error: rerunning the final cell after changing the model.</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values from the solution notebook (scikit-learn 1.9; 1.7 gives the same); learners with these versions should see the same values. The split gives 124 training, 42 validation and 42 final rows. Two principal components keep only 39% of the variance, so the 2-D plots are a teaching view, not the model: the 2-D validation accuracies were 0.69 (linear), 0.64 (polynomial) and 0.76 (RBF).</a:t>
            </a:r>
          </a:p>
          <a:p/>
          <a:p>
            <a:r>
              <a:t>The grid search selects an RBF kernel with C = 10 and gamma "scale", with a cross-validated balanced accuracy of 0.79 on the training rows. On the 42 validation rows the same model reaches a balanced accuracy of 0.92. Neither number is wrong: each row of a 42-row set is worth 2.4 accuracy points, so small sets swing widely.</a:t>
            </a:r>
          </a:p>
          <a:p/>
          <a:p>
            <a:r>
              <a:t>In a reference implementation of section 5 (pca__n_components added to the section 4 grid, best setting per component count), PCA inside the pipeline gave CV balanced accuracy 0.59 with 2 components, 0.75 with 10 and 0.80 with 30: dimensionality reduction removed useful signal here. Learners' implementations may differ slightly; the lesson is the matched comparison and the single, final use of the reserved rows.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six statements and connect each to a moment of the day: the contract timeline, the log summary exercise, the motivating case, the fold diagram, the model-comparison plot and the confusion matrices.</a:t>
            </a:r>
          </a:p>
          <a:p/>
          <a:p>
            <a:r>
              <a:t>Ask each learner to pick the one habit they will apply first in their own project and to write it on the exit card. Collect a few aloud.</a:t>
            </a:r>
          </a:p>
          <a:p/>
          <a:p>
            <a:r>
              <a:t>Bridge to Module 2: ensembles (random forests, gradient boosting), model interpretation and full ColumnTransformer pipelines build directly on today's split and pipeline habits. [3 min]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 written answers on cards [5 min]; review weak points at the start of Module 2.</a:t>
            </a:r>
          </a:p>
          <a:p/>
          <a:p>
            <a:r>
              <a:t>Expected answers. (1) Otherwise the scaling statistics include the validation rows, which then are not unseen; the pipeline refits the scaler on each training fold. (2) Whenever neighbouring samples or the same wells appear in both training and validation, because depth samples are correlated and wells differ; use grouped folds for new-well questions. (3) −ln 0.1 ≈ 2.30, about 22 times the loss of a confident correct prediction at 0.9, because log loss punishes confident mistakes. (4) A consistent improvement over the baseline and simpler candidates on the deployment-relevant folds, visible across most folds rather than only in the mean, with acceptable error patterns, runtime and maintainability.</a:t>
            </a:r>
          </a:p>
          <a:p/>
          <a:p>
            <a:r>
              <a:t>Common weak answer to watch for in (4): "a higher accuracy". Probe for which folds, which metric and which baseline.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official scikit-learn documentation for parameter definitions and current defaults; the user guide sections on cross-validation and on common pitfalls match today's evaluation habits closely.</a:t>
            </a:r>
          </a:p>
          <a:p/>
          <a:p>
            <a:r>
              <a:t>An Introduction to Statistical Learning covers regression, classification, resampling and regularization at the level of this module, with free online editions; The Elements of Statistical Learning goes deeper, including the bias–variance decomposition and the correct and incorrect ways to do cross-validation.</a:t>
            </a:r>
          </a:p>
          <a:p/>
          <a:p>
            <a:r>
              <a:t>Kaufman and colleagues give a formal treatment of leakage with many practical examples. Roberts and colleagues review blocked and grouped cross-validation for structured data; although written for ecology, it maps directly onto wells and time series. Hall's tutorial introduced a facies classification dataset from the Hugoton field, related to the lab data.</a:t>
            </a:r>
          </a:p>
          <a:p/>
          <a:p>
            <a:r>
              <a:t>All plots in this module are original computed teaching examples on synthetic data or clearly labelled schematics.</a:t>
            </a:r>
          </a:p>
          <a:p/>
          <a:p>
            <a:r>
              <a:t>Reference: https://scikit-learn.org/stable/user_guide.html ; https://scikit-learn.org/stable/common_pitfalls.html ; https://www.statlearning.com/ ; https://hastie.su.domains/ElemStatLearn/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9.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4.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5.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6.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7.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9.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2.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4.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5.png"/><Relationship Id="rId3" Type="http://schemas.openxmlformats.org/officeDocument/2006/relationships/notesSlide" Target="../notesSlides/notesSlide9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Supervised learning foundations</a:t>
            </a:r>
          </a:p>
        </p:txBody>
      </p:sp>
      <p:pic>
        <p:nvPicPr>
          <p:cNvPr id="3" name="Slide 1" descr="MACHINE LEARNING / MODULE 1 Supervised learning foundations Regression, classification and honest evaluation for energy data Full day · 09:00–17:00 6 parts · 3 labs Python · scikit-learn Machine learning for energy applications"/>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Today's plan</a:t>
            </a:r>
          </a:p>
        </p:txBody>
      </p:sp>
      <p:pic>
        <p:nvPicPr>
          <p:cNvPr id="3" name="Slide 2" descr="TODAY'S PLAN Today's plan 09:00 Welcome and framing supervised problems Lecture 09:30 Data, EDA and preprocessing Lecture 10:10 Break Break 10:25 Splits, cross-validation and leakage Lecture 11:00 Linear models and regularization Lecture 11:50 Lab 1: regression and regularization Lab 12:40 Lunch Lunch 13:30 Classification models Lecture 14:30 Lab 2: classifiers and a facies split design Lab 15:25 Break Break 15:40 Evaluating and selecting models Lecture 16:15 Lab 3: a tuned pipeline and a locked test Lab 16:45 Recap and exit check Discussion Machine Learning / Module 1 · Supervised learning foundations 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you will be able to do</a:t>
            </a:r>
          </a:p>
        </p:txBody>
      </p:sp>
      <p:pic>
        <p:nvPicPr>
          <p:cNvPr id="3" name="Slide 3" descr="LEARNING OUTCOMES What you will be able to do By the end of the day you will be able to: 1 Write a prediction contract: target, unit, prediction time, inputs and metric. 2 Audit energy data for null codes, unit mixes, depth shifts and patterned gaps. 3 Choose a split and cross-validation scheme that matches deployment. 4 Fit and regularize linear models and diagnose them with residuals and learning curves. 5 Explain the boundaries of logistic regression, KNN, SVM and decision trees. 6 Evaluate classifiers per class and tune them inside grouped cross-validation. Machine Learning / Module 1 · Supervised learning foundations 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Same model, same wells, two very different scores</a:t>
            </a:r>
          </a:p>
        </p:txBody>
      </p:sp>
      <p:pic>
        <p:nvPicPr>
          <p:cNvPr id="3" name="Slide 4" descr="MOTIVATING CASE Same model, same wells, two very different scores 1.00 A 1-nearest-neighbour facies model: 8 synthetic wells, 5 logs 0.95 mean 0.94 Random row folds: mean 0.90 optimism accuracy 0.94 0.15 0.85 Held-out wells: mean 0.79; the 0.80 accuracy mean 0.79 worst well 0.695 Fold 0.75 Which number belongs in the worst well 0.695 0.70 report to the asset team? 0.65 0.60 Random row folds Held-out wells (5 folds) (8 folds) Computed on a synthetic 8-well dataset (seed 7); standardized 1-NN classifier. Not field performance. Machine Learning / Module 1 · Supervised learning foundations 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Framing supervised problems</a:t>
            </a:r>
          </a:p>
        </p:txBody>
      </p:sp>
      <p:pic>
        <p:nvPicPr>
          <p:cNvPr id="3" name="Slide 5" descr="PART 1 OF 6 01 Framing supervised problems A model is only as useful as the question it answers. Prediction contracts Task types and shared vocabulary The end-to-end workflow and the energy landscape Baselines that make improvement measurable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prediction needs a contract</a:t>
            </a:r>
          </a:p>
        </p:txBody>
      </p:sp>
      <p:pic>
        <p:nvPicPr>
          <p:cNvPr id="3" name="Slide 6" descr="PRACTICE 3 min Pairs A prediction needs a contract An operator wants to predict poor production. 1 What exactly is the target, and over what future interval? 2 Is one example a depth sample, a well, or a well-day? 3 Which measurements exist at the moment of prediction? Machine Learning / Module 1 · Supervised learning foundations 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contract fixes target, timing, inputs and action</a:t>
            </a:r>
          </a:p>
        </p:txBody>
      </p:sp>
      <p:pic>
        <p:nvPicPr>
          <p:cNvPr id="3" name="Slide 7" descr="FRAMING SUPERVISED PROBLEMS A contract fixes target, timing, inputs and action One worked answer: next-day oil rate per well, predicted at midnight. Unit of prediction Prediction time Decision supported Metric one well-day 00:00 every day choke and intervention plans MAE in m³/d yesterday's pressure is a valid input tomorrow's pressure is not Inputs known before t₀ Target Label confirmed rates, pressures, choke, last well test, history next 24 h oil rate allocated rate, after the fact prediction made t₀ − 30 days t₀ t₀ + 24 h days later Schematic prediction contract. The same template applies to any energy forecast or classification. Machine Learning / Module 1 · Supervised learning foundations 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Supervised learning learns from labelled examples</a:t>
            </a:r>
          </a:p>
        </p:txBody>
      </p:sp>
      <p:pic>
        <p:nvPicPr>
          <p:cNvPr id="3" name="Slide 8" descr="FRAMING SUPERVISED PROBLEMS Supervised learning learns from labelled examples Regression Classification Unsupervised Reinforcement Numeric target Class label No target: Actions and structure only delayed rewards Porosity, next-day Facies, trip or no rate, hourly load trip, fault type Groups of Control policies; production background only patterns (Modules 3–4) Supervised means every training row carries a known answer: a number or a class. Machine Learning / Module 1 · Supervised learning foundations 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vocabulary we will use all week</a:t>
            </a:r>
          </a:p>
        </p:txBody>
      </p:sp>
      <p:pic>
        <p:nvPicPr>
          <p:cNvPr id="3" name="Slide 9" descr="FRAMING SUPERVISED PROBLEMS The vocabulary we will use all week Term Meaning Energy example Feature An input known at prediction time GR and RHOB at one depth Target The value or label to predict Core porosity, facies Observation / group One row / rows that belong together Depth sample / well Training, validation, test Fit / choose / check once 6, 2 and 2 wells Baseline The simplest defensible reference Training mean, persistence Leakage Information the model would not have Tomorrow's pressure as input Machine Learning / Module 1 · Supervised learning foundations 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workflow is a loop with the test set locked early</a:t>
            </a:r>
          </a:p>
        </p:txBody>
      </p:sp>
      <p:pic>
        <p:nvPicPr>
          <p:cNvPr id="3" name="Slide 10" descr="FRAMING SUPERVISED PROBLEMS The workflow is a loop with the test set locked early Steps 4–5 repeat inside cross-validation; step 6 happens once per locked pipeline. repeated inside every CV fold test rows set aside 1 2 3 4 5 6 7 Frame Audit data Split Prepare Train &amp; tune Test once Deploy target, unit, units, gaps, lock the test impute, scale, fit and compare locked pipeline, monitor drift prediction time null codes, EDA set early encode with CV one estimate and errors iterate on validation scores, not test errors and drift in operation send you back to framing Schematic supervised-learning workflow. Colours: navy framing, grey data steps, blue model fitting, orange test data, purple operation. Machine Learning / Module 1 · Supervised learning foundations 1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Supervised problems span the energy value chain</a:t>
            </a:r>
          </a:p>
        </p:txBody>
      </p:sp>
      <p:pic>
        <p:nvPicPr>
          <p:cNvPr id="3" name="Slide 11" descr="FRAMING SUPERVISED PROBLEMS Supervised problems span the energy value chain Subsurface Drilling Production Facilities Power Facies from logs C Rate of penetration R Next-day oil rate R Corrosion rate R Day-ahead load R per depth sample per metre drilled per well-day per pipe segment per hour Porosity from logs R Stuck-pipe warning C ESP trip in 7 days C Leak-alarm triage C Wind-farm output R per depth sample per rig hour per pump-day per alarm per 10 minutes Missing sonic log R Lithology at the bit C Gas-lock detection C Compressor fault C Transformer fault C per depth sample per depth sample per time window per trip event per gas-analysis sample R regression: numeric target C classification: class label Schematic overview of typical problem formulations; examples only, no performance implied. R = regression, C = classification. Machine Learning / Module 1 · Supervised learning foundations 1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Baselines make improvement measurable</a:t>
            </a:r>
          </a:p>
        </p:txBody>
      </p:sp>
      <p:pic>
        <p:nvPicPr>
          <p:cNvPr id="3" name="Slide 12" descr="FRAMING SUPERVISED PROBLEMS Baselines make improvement measurable Regression Time series Classification Training-target mean or Persistence: tomorrow Majority class median equals today (DummyClassifier) A physics or domain formula Seasonal naive: same hour A simple logistic regression last week A model that cannot beat persistence on the same rows and metric has not earned its complexity. Machine Learning / Module 1 · Supervised learning foundations 1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Frame five energy problems</a:t>
            </a:r>
          </a:p>
        </p:txBody>
      </p:sp>
      <p:pic>
        <p:nvPicPr>
          <p:cNvPr id="3" name="Slide 13" descr="PRACTICE 5 min Pairs Frame five energy problems Problem Task type One row is Baseline Oil rate next month ? ? ? ESP trip within 7 days ? ? ? Facies from logs ? ? ? Day-ahead hourly load ? ? ? Corrosion rate by segment ? ? ? 1 Fill the table, then name one input for each problem that would leak. Machine Learning / Module 1 · Supervised learning foundations 1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Data, EDA and preprocessing</a:t>
            </a:r>
          </a:p>
        </p:txBody>
      </p:sp>
      <p:pic>
        <p:nvPicPr>
          <p:cNvPr id="3" name="Slide 14" descr="PART 2 OF 6 02 Data, EDA and preprocessing Look at the data before a model does. Data shapes and a well-log display Distributions, correlation and missingness Quality traps: null codes, unit mixes, depth shifts Scaling, encoding and imputation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Energy data come in four shapes</a:t>
            </a:r>
          </a:p>
        </p:txBody>
      </p:sp>
      <p:pic>
        <p:nvPicPr>
          <p:cNvPr id="3" name="Slide 15" descr="DATA, EDA AND PREPROCESSING Energy data come in four shapes Tabular Depth-indexed logs Time series Images and grids One row per well, A row often every One row per Pixels with spatial asset or event 0.15 m timestamp per structure asset Completion tables, Adjacent rows are Seismic sections, work orders near-duplicates SCADA, ESP and core photos meter streams (NN Day 4) The shape decides the split: group rows by well or asset, and respect time order. Machine Learning / Module 1 · Supervised learning foundations 1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well log is a depth-indexed table</a:t>
            </a:r>
          </a:p>
        </p:txBody>
      </p:sp>
      <p:pic>
        <p:nvPicPr>
          <p:cNvPr id="3" name="Slide 16" descr="DATA, EDA AND PREPROCESSING A well log is a depth-indexed table GR (API) RT (Ω·m) RHOB (g/cm³) Each depth sample is one row; 0 75 150 1 10 100 2.00 2.45 2.90 Facies each curve is a feature 1560 Facies from core or interpretation 1565 is the target (m) 1570 Resistivity spans decades, so plot 1575 and model log₁₀ RT Depth 1580 Density and neutron both respond to porosity 1585 0.45 0.15 −0.15 NPHI (v/v) Sandstone Siltstone Shale Limestone Dolomite Synthetic well W2 (seed 7): 33 m at 0.15 m sampling, generated from facies-dependent distributions. Not a real well. Machine Learning / Module 1 · Supervised learning foundations 1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Distributions reveal mixtures and skew</a:t>
            </a:r>
          </a:p>
        </p:txBody>
      </p:sp>
      <p:pic>
        <p:nvPicPr>
          <p:cNvPr id="3" name="Slide 17" descr="DATA, EDA AND PREPROCESSING Distributions reveal mixtures and skew Plot every feature before fitting: mixtures hint at classes, skew hints at a transform. Gamma ray: a mixture of rocks Resistivity, linear axis Resistivity, log axis clean rock: skewness 0.05 2000 skewness 3.71 350 skewness 0.60 200 sand, carbonate 1750 shaly rock 300 1500 250 150 1250 200 1000 Samples 100 150 750 100 500 50 50 250 0 0 0 0 50 100 150 0 100 200 300 400 0 1 2 3 GR (API) RT (Ω·m) log₁₀ RT Computed on the synthetic 8-well dataset (3,200 samples, seed 7); skewness from scipy.stats.skew. Machine Learning / Module 1 · Supervised learning foundations 1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Correlation shows redundancy, not causation</a:t>
            </a:r>
          </a:p>
        </p:txBody>
      </p:sp>
      <p:pic>
        <p:nvPicPr>
          <p:cNvPr id="3" name="Slide 18" descr="DATA, EDA AND PREPROCESSING Correlation shows redundancy, not causation GR, NPHI and DT rise together GR 1 −0.15 0.78 −0.74 −0.34 0.72 1.0 (r = 0.72–0.80) log RT falls as NPHI and DT rise RHOB −0.15 1 −0.35 0.37 0.68 −0.50 0.5 r Correlated inputs make linear NPHI 0.78 −0.35 1 −0.78 −0.42 0.80 coefficients unstable 0.0 correlation r near 0 does not rule out a curved log RT −0.74 0.37 −0.78 1 0.54 −0.82 Pearson relationship −0.5 PE −0.34 0.68 −0.42 0.54 1 −0.63 DT 0.72 −0.50 0.80 −0.82 −0.63 1 −1.0 GR RHOB NPHI log RT PE DT Pearson r over all 3,200 synthetic samples (seed 7). Much of it comes from mixing facies. Machine Learning / Module 1 · Supervised learning foundations 1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Missingness has structure worth recording</a:t>
            </a:r>
          </a:p>
        </p:txBody>
      </p:sp>
      <p:pic>
        <p:nvPicPr>
          <p:cNvPr id="3" name="Slide 19" descr="DATA, EDA AND PREPROCESSING Missingness has structure worth recording Gaps follow tool strings, logging runs and hole conditions: they are patterned, not random. W1 W2 W3 W4 W5 W6 W7 W8 GR 0.7% RHOB washout 2.1% NPHI gap between logging runs 0.7% RT 0.7% PE PE not run PE not run 27.1% DT upper interval not logged 17.6% Depth samples, grouped by well (depth increases to the right within each well) 0 20 40 Share missing (%) Synthetic dataset (seed 7) with injected, patterned gaps: PE absent in W3 and W6, DT only in the lower interval of W1, W2 and W5, a washout in W7 and a gap between runs in W4. Machine Learning / Module 1 · Supervised learning foundations 1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Null codes and unit mixes masquerade as data</a:t>
            </a:r>
          </a:p>
        </p:txBody>
      </p:sp>
      <p:pic>
        <p:nvPicPr>
          <p:cNvPr id="3" name="Slide 20" descr="DATA, EDA AND PREPROCESSING Null codes and unit mixes masquerade as data Both pass a quick glance at a table; both distort means, scalers and distances. Null code −999.25 read as a measurement One well stored in percent, the rest in v/v 12 of 400 samples are −999.25 40 mean GR as read: 45 API mean after masking: 78 API 35 W5 median 20.8 30 (API) 200 25 0 stored as 20 read −200 as 15 −400 NPHI other wells: median 0.21 GR −600 10 −800 5 −1000 0 1480 1490 1500 1510 1520 1530 1540 W1 W2 W3 W4 W5 W6 W7 W8 Depth in well W3 (m) Well Synthetic data (seed 7) with injected problems: −999.25 null codes in W3 GR and W5 NPHI stored in percent. Machine Learning / Module 1 · Supervised learning foundations 2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Depth shifts misalign curves from different runs</a:t>
            </a:r>
          </a:p>
        </p:txBody>
      </p:sp>
      <p:pic>
        <p:nvPicPr>
          <p:cNvPr id="3" name="Slide 21" descr="DATA, EDA AND PREPROCESSING Depth shifts misalign curves from different runs Same beds, two depths Cross-correlation Runs can record the same bed at 1.0 slightly different depths best shift 1.20 m r = 0.97 Cross-correlate a curve logged on 1610 0.8 both runs, usually GR 1 run 1 run 0.6 no shift (m) run 2 with Apply the best shift, then check 1615 r = 0.50 several beds by eye 0.4 Depth Align before combining curves Correlation 0.2 1620 into features 0.0 0 50 100 150 −2 0 2 GR (API) Shift applied to run 2 (m) Synthetic well W4 (seed 7). Run 2 repeats the GR log 1.2 m deeper with independent noise (seed 4); correlation at each trial shift. Machine Learning / Module 1 · Supervised learning foundations 2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What is wrong with this log summary?</a:t>
            </a:r>
          </a:p>
        </p:txBody>
      </p:sp>
      <p:pic>
        <p:nvPicPr>
          <p:cNvPr id="3" name="Slide 22" descr="PRACTICE 5 min Pairs What is wrong with this log summary? Curve Rows present of 3,200 Min / median / max GR (API) 3,178 −999.25 / 65.2 / 142.3 RHOB (g/cm³) 3,133 2.24 / 2.49 / 2.75 NPHI (v/v) 3,178 0.01 / 0.23 / 40.2 RT (Ω·m) 3,178 0.49 / 5.89 / 331.8 PE (b/e) 2,333 1.71 / 3.48 / 6.14 DT (µs/ft) 2,638 45.8 / 90.6 / 128.9 1 Find at least four problems and say what you would check next. Machine Learning / Module 1 · Supervised learning foundations 2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Feature engineering needs physical meaning</a:t>
            </a:r>
          </a:p>
        </p:txBody>
      </p:sp>
      <p:pic>
        <p:nvPicPr>
          <p:cNvPr id="3" name="Slide 23" descr="DATA, EDA AND PREPROCESSING Feature engineering needs physical meaning Meaningful Misleading log₁₀ RT instead of raw RT RHOB − NPHI without consistent units or scaling Shale volume from GR with per-well clean and shale baselines vs Well ID as a predictor for unseen wells Rolling means within each well, trailing in real Centred windows in real-time use: they see time the future Test every engineered feature against a baseline on held-out wells. Machine Learning / Module 1 · Supervised learning foundations 2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Scalers react differently to one outlier</a:t>
            </a:r>
          </a:p>
        </p:txBody>
      </p:sp>
      <p:pic>
        <p:nvPicPr>
          <p:cNvPr id="3" name="Slide 24" descr="DATA, EDA AND PREPROCESSING Scalers react differently to one outlier StandardScaler: mean and standard deviation StandardScaler: mean and SD, both pulled by an outlier without outlier at 6.3 with MinMaxScaler: the range is set by −2 −1 0 1 2 the extremes MinMaxScaler: minimum and maximum RobustScaler: median and IQR without outlier barely move with −2 −1 0 1 2 Fit any scaler on training rows RobustScaler: median and interquartile range only without outlier at 29.3 with −2 −1 0 1 2 Scaled value of the 40 ordinary samples Synthetic feature: 40 samples from N(50, 10), seed 5, plus one outlier at 400. Bars show the range of the 40 ordinary samples. Machine Learning / Module 1 · Supervised learning foundations 2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Encoding and imputation turn columns into numbers</a:t>
            </a:r>
          </a:p>
        </p:txBody>
      </p:sp>
      <p:pic>
        <p:nvPicPr>
          <p:cNvPr id="3" name="Slide 25" descr="DATA, EDA AND PREPROCESSING Encoding and imputation turn columns into numbers Both steps learn from data, so both belong inside the cross-validated pipeline. One-hot encoding: one column per category Median imputation plus a missing indicator Formation A1 LM A1 SH B1 SH PE PE PE_missing A1 SH 0 1 0 3.1 3.1 0 median of the training values A1 LM 1 0 0 NaN 3.1 1 (2.8, 3.1, 4.0) = 3.1 B1 SH 0 0 1 2.8 2.8 0 A1 LM 1 0 0 NaN 3.1 1 B1 SH 0 0 1 4.0 4.0 0 Integer codes 0, 1, 2 would invent an order Both steps are fitted: categories and medians that linear models and KNN take literally come from training rows only Schematic worked example; the median 3.1 comes from the three observed training values (2.8, 3.1, 4.0). Machine Learning / Module 1 · Supervised learning foundations 2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Splits, cross-validation and leakage</a:t>
            </a:r>
          </a:p>
        </p:txBody>
      </p:sp>
      <p:pic>
        <p:nvPicPr>
          <p:cNvPr id="3" name="Slide 26" descr="PART 3 OF 6 03 Splits, cross-validation and leakage The split is the experiment. Three distinct uses of data Cross-validation schemes and what each one estimates Parameters versus hyperparameters Three forms of leakage, and an exercise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Training, validation and test data do different jobs</a:t>
            </a:r>
          </a:p>
        </p:txBody>
      </p:sp>
      <p:pic>
        <p:nvPicPr>
          <p:cNvPr id="3" name="Slide 27" descr="SPLITS, CROSS-VALIDATION AND LEAKAGE Training, validation and test data do different jobs Training Validation / CV Test Fits imputation, scaling and Selects models, thresholds Estimates the locked model parameters and settings workflow, once Never sees evaluation rows Turns optimistic once you Any further tuning turns it choose on it into validation Size the partitions by independent groups and event counts, not by a fixed 60/20/20. Machine Learning / Module 1 · Supervised learning foundations 2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split follows the deployment question</a:t>
            </a:r>
          </a:p>
        </p:txBody>
      </p:sp>
      <p:pic>
        <p:nvPicPr>
          <p:cNvPr id="3" name="Slide 28" descr="SPLITS, CROSS-VALIDATION AND LEAKAGE The split follows the deployment question Well A Well B Well C Well D Random rows Train Val Train Test Train Train Val Train Test Train Train Val Train Test Train Train tests new rows from the same wells Grouped by well Train Train Train Train Train Train Train Train Val Val Val Val Test Test Test Test tests wells never seen in training Ordered in time Train Train Val Test Train Train Val Test Train Train Val Test Train Train Val Test tests the later period of every well observations within each well, in depth or time order Schematic split assignments. Each row answers a different generalization question, not a ranking of methods. Machine Learning / Module 1 · Supervised learning foundations 2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K-fold and stratified folds rotate the validation rows</a:t>
            </a:r>
          </a:p>
        </p:txBody>
      </p:sp>
      <p:pic>
        <p:nvPicPr>
          <p:cNvPr id="3" name="Slide 29" descr="SPLITS, CROSS-VALIDATION AND LEAKAGE K-fold and stratified folds rotate the validation rows Every row validates exactly once; stratification also keeps the class mix in each fold. K-fold (shuffled) Stratified K-fold Class Class Fold 1 2 events Fold 1 1 event Fold 2 0 events Fold 2 1 event Fold 3 1 event Fold 3 1 event Fold 4 1 event Fold 4 1 event training rows validation rows event (minority class): 4 of 16 rows Fold assignments computed with scikit-learn KFold and StratifiedKFold (4 folds, shuffle, random_state=1) for 16 rows with 4 events. Machine Learning / Module 1 · Supervised learning foundations 2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Grouped and time-ordered folds mirror deployment</a:t>
            </a:r>
          </a:p>
        </p:txBody>
      </p:sp>
      <p:pic>
        <p:nvPicPr>
          <p:cNvPr id="3" name="Slide 30" descr="SPLITS, CROSS-VALIDATION AND LEAKAGE Grouped and time-ordered folds mirror deployment Hold out whole wells for new-well questions; train on the past only for forecasts. Grouped K-fold: whole wells held out Time-series split: train on the past only W1 W2 W3 W4 W5 W6 W7 W8 1 2 3 4 5 6 7 8 9 10 Fold 1 Split 1 Fold 2 Split 2 Fold 3 Split 3 Fold 4 Split 4 training rows validation rows not used time blocks (e.g. months) Computed with scikit-learn GroupKFold(4) for 8 equal-size wells and TimeSeriesSplit(4) for 10 time blocks. Machine Learning / Module 1 · Supervised learning foundations 3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Each scheme estimates a different future</a:t>
            </a:r>
          </a:p>
        </p:txBody>
      </p:sp>
      <p:pic>
        <p:nvPicPr>
          <p:cNvPr id="3" name="Slide 31" descr="SPLITS, CROSS-VALIDATION AND LEAKAGE Each scheme estimates a different future Scheme Estimates performance on Watch out for K-fold New rows like the training rows Correlated rows inflate scores Stratified K-fold The same, with a stable class mix Still row-level Grouped K-fold Wells or assets never seen Few groups give noisy estimates Time-series split The period after training Needs a gap for the forecast horizon New wells and future periods at once: group by well and keep time order. Start from the prediction contract: the deployment question picks the scheme. Machine Learning / Module 1 · Supervised learning foundations 3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Parameters are learned; hyperparameters are chosen</a:t>
            </a:r>
          </a:p>
        </p:txBody>
      </p:sp>
      <p:pic>
        <p:nvPicPr>
          <p:cNvPr id="3" name="Slide 32" descr="SPLITS, CROSS-VALIDATION AND LEAKAGE Parameters are learned; hyperparameters are chosen Parameters Hyperparameters Learned by fit from training rows Chosen by comparing validation scores Weights, split thresholds, support vectors vs α, K, C and γ, max_depth Also imputer medians and scaler means Also the preprocessing choices themselves Whatever the validation folds chose, only the test set can judge, and only once. Machine Learning / Module 1 · Supervised learning foundations 3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Leakage takes three common forms</a:t>
            </a:r>
          </a:p>
        </p:txBody>
      </p:sp>
      <p:pic>
        <p:nvPicPr>
          <p:cNvPr id="3" name="Slide 33" descr="SPLITS, CROSS-VALIDATION AND LEAKAGE Leakage takes three common forms Target leakage Train–test contamination Temporal leakage An input encodes the answer Evaluation rows shape Information from after training prediction time A workover flag written after the failure Scaling all wells; neighbours Centred windows; on both sides later-revised allocations Ask of every input: would this value exist, unchanged, at prediction time? Machine Learning / Module 1 · Supervised learning foundations 3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Leakage can enter before the model</a:t>
            </a:r>
          </a:p>
        </p:txBody>
      </p:sp>
      <p:pic>
        <p:nvPicPr>
          <p:cNvPr id="3" name="Slide 34" descr="PRACTICE 3 min Pairs Leakage can enter before the model You scale all wells, select features using all labels, then split by well. 1 Which steps have already used the future validation wells? 2 Where should each step run during cross-validation? Machine Learning / Module 1 · Supervised learning foundations 3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Fit every step inside the training fold</a:t>
            </a:r>
          </a:p>
        </p:txBody>
      </p:sp>
      <p:pic>
        <p:nvPicPr>
          <p:cNvPr id="3" name="Slide 35" descr="DISCUSSION Fit every step inside the training fold Answer: refit the imputer, scaler and model on the training rows of each fold; validation rows are only transformed. Everything the pipeline learns comes from the training rows of the fold Training data repeat for k = 1 … K, Other folds Imputer Scaler Model report mean training rows fit + transform fit + transform fit and spread fold k medians means, SDs weights Fold k Imputer Scaler Model Score k validation rows transform only transform only predict Schematic of one cross-validation fold. Module 2 measures how much the wrong order inflates scores. Machine Learning / Module 1 · Supervised learning foundations 3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Linear models and regularization</a:t>
            </a:r>
          </a:p>
        </p:txBody>
      </p:sp>
      <p:pic>
        <p:nvPicPr>
          <p:cNvPr id="3" name="Slide 36" descr="PART 4 OF 6 04 Linear models and regularization A fitted curve is a hypothesis about unseen observations. Linear models, least squares and gradient descent Basis expansion, capacity, bias and variance Ridge, lasso and robust losses Regression metrics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Linear models are linear in their weights</a:t>
            </a:r>
          </a:p>
        </p:txBody>
      </p:sp>
      <p:pic>
        <p:nvPicPr>
          <p:cNvPr id="3" name="Slide 37" descr="LINEAR MODELS AND REGULARIZATION Linear models are linear in their weights d 0.30 fitted: porosity = 1.54 − 0.578 × RHOB physics: slope = −1/(2.65 − 1.00) = −0.606 ˆy = b + wjxj 0.25 j = 1 X 0.20 (fraction) Each weight is the change in 0.15 prediction per unit of its input, 0.10 Porosity others fixed Density–porosity is linear by 0.05 RHOB = 2.40 g/cm³ → predicted porosity 0.152 physics: slope −1/(ρ_ma − ρ_f) 0.00 Weights depend on units and on 2.1 2.2 2.3 2.4 2.5 2.6 Bulk density RHOB (g/cm³) correlated inputs Synthetic data (seed 3) from the density–porosity relation, matrix 2.65 and fluid 1.00 g/cm³. Machine Learning / Module 1 · Supervised learning foundations 3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Least squares chooses the weights</a:t>
            </a:r>
          </a:p>
        </p:txBody>
      </p:sp>
      <p:pic>
        <p:nvPicPr>
          <p:cNvPr id="3" name="Slide 38" descr="LINEAR MODELS AND REGULARIZATION Least squares chooses the weights n 1 L = n (yi −ˆyi)2 i = 1 X Least squares picks the weights that minimize L, so each residual counts by its square: 1 4 16 cost of a residual of 1 cost of a residual of 2 cost of a residual of 4 Solvers use QR or SVD factorizations, not an explicit matrix inverse. Machine Learning / Module 1 · Supervised learning foundations 3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residual shows what the model missed</a:t>
            </a:r>
          </a:p>
        </p:txBody>
      </p:sp>
      <p:pic>
        <p:nvPicPr>
          <p:cNvPr id="3" name="Slide 39" descr="LINEAR MODELS AND REGULARIZATION A residual shows what the model missed Observed values and fitted line Residual pattern 1.0 3.5 Observed 0.8 Linear fit 3.0 0.6 0.4 2.5 y predicted 0.2 2.0 − Target 0.0 1.5 −0.2 Observed −0.4 1.0 −0.6 0.5 −1.00 −0.75 −0.50 −0.25 0.00 0.25 0.50 0.75 1.00 −1.00 −0.75 −0.50 −0.25 0.00 0.25 0.50 0.75 1.00 Input x Input x Computed synthetic example. Residual = observed value minus prediction. A curved residual pattern indicates missing structure. Machine Learning / Module 1 · Supervised learning foundations 3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One gradient step, worked by hand</a:t>
            </a:r>
          </a:p>
        </p:txBody>
      </p:sp>
      <p:pic>
        <p:nvPicPr>
          <p:cNvPr id="3" name="Slide 40" descr="LINEAR MODELS AND REGULARIZATION One gradient step, worked by hand L wnew = w w −α One sample x = 2, y = 5; intercept fixed at 0; start at w = 1; learning rate α = 0.1. 1 Predict — ŷ = wx = 2, so the squared error is (5 − 2)² = 9 2 Gradient — ∂L/∂w = 2x(wx − y) = 2 · 2 · (2 − 5) = −12 3 Step — w = 1 − 0.1 × (−12) = 2.2 4 Check — ŷ = 4.4, and the squared error falls to (5 − 4.4)² = 0.36 Too large a learning rate overshoots the minimum and can increase the loss. Machine Learning / Module 1 · Supervised learning foundations 4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Gradient descent zigzags when curvatures differ</a:t>
            </a:r>
          </a:p>
        </p:txBody>
      </p:sp>
      <p:pic>
        <p:nvPicPr>
          <p:cNvPr id="3" name="Slide 41" descr="LINEAR MODELS AND REGULARIZATION Gradient descent zigzags when curvatures differ 2.0 Gradient updates 1.5 Minimum 1.0 2 0.5 0.0 Parameter −0.5 −1.0 −1.5 −2.0 −3 −2 −1 0 1 2 3 Parameter 1 Computed on the exact quadratic loss L = w₁² + 5w₂², learning rate 0.16. The path follows successive updates from one start. Machine Learning / Module 1 · Supervised learning foundations 4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Basis expansion lets a linear model bend</a:t>
            </a:r>
          </a:p>
        </p:txBody>
      </p:sp>
      <p:pic>
        <p:nvPicPr>
          <p:cNvPr id="3" name="Slide 42" descr="LINEAR MODELS AND REGULARIZATION Basis expansion lets a linear model bend ˆy = b + w1z + w2z2 + w3z3 1500 cubic basis (m) Still linear in the weights, so least Head 1000 squares still applies straight line 500 z is standardized flow: raw 400 powers of Q would be badly 200 conditioned (m) 0 The degree is a hyperparameter: Term w₁·z, w₁ = −215 −200 choose it by validation w₂·z², w₂ = −93 −400 w₃·z³, w₃ = −13 200 400 600 800 1000 1200 Flow rate Q (m³/d) Synthetic head–flow data (seed 8), 45 points; cubic fit on the standardized flow z. Machine Learning / Module 1 · Supervised learning foundations 4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Capacity changes the fitted function</a:t>
            </a:r>
          </a:p>
        </p:txBody>
      </p:sp>
      <p:pic>
        <p:nvPicPr>
          <p:cNvPr id="3" name="Slide 43" descr="LINEAR MODELS AND REGULARIZATION Capacity changes the fitted function Polynomial degree 0 Polynomial degree 2 Polynomial degree 12 4.0 Training samples 4.0 4.0 Fitted prediction 3.5 3.5 3.5 Generating function 3.0 3.0 3.0 y 2.5 2.5 2.5 2.0 2.0 2.0 Target 1.5 1.5 1.5 1.0 1.0 1.0 0.5 0.5 0.5 0.0 0.0 0.0 −1.0 −0.5 0.0 0.5 1.0 −1.0 −0.5 0.0 0.5 1.0 −1.0 −0.5 0.0 0.5 1.0 Input x Input x Input x Three models fitted to the same synthetic training observations. The dashed curve is the generating function, not an available training label. Machine Learning / Module 1 · Supervised learning foundations 4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Held-out curves diagnose capacity and data needs</a:t>
            </a:r>
          </a:p>
        </p:txBody>
      </p:sp>
      <p:pic>
        <p:nvPicPr>
          <p:cNvPr id="3" name="Slide 44" descr="LINEAR MODELS AND REGULARIZATION Held-out curves diagnose capacity and data needs Validation curves choose complexity; learning curves show whether more data would help. Validation curve (40 rows) Learning curve: degree 1 Learning curve: degree 9 0.8 0.8 0.8 gap closes, but both lowest validation stay above the noise: 0.7 0.7 0.7 error: degree 2 high bias large gap with few rows: high variance 0.6 0.6 0.6 validation 0.5 0.5 0.5 training validation 0.4 0.4 0.4 RMSE 0.3 0.3 0.3 noise SD 0.24 validation 0.2 0.2 noise SD 0.24 0.2 training training 0.1 0.1 0.1 0.0 0.0 0.0 1 3 5 7 9 11 12 30 100 300 12 30 100 300 Polynomial degree Training rows (log scale) Training rows (log scale) Synthetic y = 1 + x + 1.6x² + noise (SD 0.24): validation curve on 40 rows (seed 94, 5-fold CV repeated 12 times); learning curves from a 400-row pool (seed 12). Mean RMSE. Machine Learning / Module 1 · Supervised learning foundations 4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Bias and variance explain different failures</a:t>
            </a:r>
          </a:p>
        </p:txBody>
      </p:sp>
      <p:pic>
        <p:nvPicPr>
          <p:cNvPr id="3" name="Slide 45" descr="LINEAR MODELS AND REGULARIZATION Bias and variance explain different failures Squared bias Noise 5 Variance Expected squared error 4 3 (schematic) Error 2 1 0 0 1 2 3 4 5 6 7 8 Model complexity (schematic) Schematic squared-error decomposition. These curves illustrate a concept and are not measured learning curves. Machine Learning / Module 1 · Supervised learning foundations 4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Ridge, lasso and elastic net add a penalty</a:t>
            </a:r>
          </a:p>
        </p:txBody>
      </p:sp>
      <p:pic>
        <p:nvPicPr>
          <p:cNvPr id="3" name="Slide 46" descr="LINEAR MODELS AND REGULARIZATION Ridge, lasso and elastic net add a penalty L(w) = (yi + αP(w) −ˆyi)2 i X Ridge (L2) Lasso (L1) Elastic net P(w)=∑j wj2 P(w)=∑j |wj | A weighted mix of both penalties Shrinks all weights; keeps Sets some weights exactly to correlated ones zero Sparse, and steadier with correlated inputs Standardize predictors first and tune α inside cross-validation; the intercept is not penalized. Machine Learning / Module 1 · Supervised learning foundations 4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L1 and L2 penalties have different geometry</a:t>
            </a:r>
          </a:p>
        </p:txBody>
      </p:sp>
      <p:pic>
        <p:nvPicPr>
          <p:cNvPr id="3" name="Slide 47" descr="LINEAR MODELS AND REGULARIZATION L1 and L2 penalties have different geometry The fit sits where the smallest loss contour touches the allowed region: corners on the axes give exact zeros. Lasso: |w₁| + |w₂| ≤ 1 Elastic net: ½ L1 + ½ L2 ≤ 1 Ridge: w₁² + w₂² ≤ 1 2 2 2 least-squares ŵ least-squares ŵ least-squares ŵ 1 1 1 w₂ 0 0 0 −1 −1 −1 w₂ = 0 exactly w = (0.89, 0.25) w = (0.90, 0.43) −1 0 1 2 3 −1 0 1 2 3 −1 0 1 2 3 w₁ w₁ w₁ Exact quadratic loss centred at ŵ = (2.0, 0.75); constrained minima computed numerically. Elastic net uses half L1, half L2. Machine Learning / Module 1 · Supervised learning foundations 4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Coefficients shrink as the penalty grows</a:t>
            </a:r>
          </a:p>
        </p:txBody>
      </p:sp>
      <p:pic>
        <p:nvPicPr>
          <p:cNvPr id="3" name="Slide 48" descr="LINEAR MODELS AND REGULARIZATION Coefficients shrink as the penalty grows 2.5 Feature 1 Feature 3 Feature 5 Feature 2 Feature 4 2.0 1.5 1.0 0.5 Coefficient 0.0 −0.5 −1.0 10−3 10−2 10−1 100 101 102 103 104 Ridge penalty alpha (log scale) Ridge fits on one standardized synthetic dataset. The horizontal axis is logarithmic. Lines are coefficients, not importance scores. Machine Learning / Module 1 · Supervised learning foundations 4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Lasso sets coefficients exactly to zero</a:t>
            </a:r>
          </a:p>
        </p:txBody>
      </p:sp>
      <p:pic>
        <p:nvPicPr>
          <p:cNvPr id="3" name="Slide 49" descr="LINEAR MODELS AND REGULARIZATION Lasso sets coefficients exactly to zero Same standardized data as the 2.5 ridge path Feature 1 Feature 4 2.0 Feature 2 Feature 5 As α decreases, weights leave Feature 3 1.5 zero one at a time 1.0 Of the correlated features 1 and 0.5 2, lasso drops feature 2 first Coefficient Above α = 3.14 every weight is 0.0 zero −0.5 all coefficients −1.0 zero for α ≥ 3.14 0.001 0.01 0.1 1 Lasso penalty α (log scale) Same synthetic data as the shared ridge path (seed 42); computed with scikit-learn lasso_path. Machine Learning / Module 1 · Supervised learning foundations 4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Squared loss lets a few spikes pull the fit</a:t>
            </a:r>
          </a:p>
        </p:txBody>
      </p:sp>
      <p:pic>
        <p:nvPicPr>
          <p:cNvPr id="3" name="Slide 50" descr="LINEAR MODELS AND REGULARIZATION Squared loss lets a few spikes pull the fit Huber loss is quadratic for small residuals and linear for large ones, so spikes pull less. Loss for one residual r ESP liquid rate versus pump frequency 6 squared: ½r² 800 5 spiky meter readings Huber (δ = 1) 5 absolute: |r| least squares: 16.8 700 4 (m³/d) Huber: 11.0 600 3 Loss rate 2 500 Liquid 1 400 slopes in m³/d per Hz; dotted: generating slope 10.0 0 −4 −3 −2 −1 0 1 2 3 4 40 45 50 55 60 Residual r = observed − predicted Pump frequency (Hz) Synthetic ESP data (seed 6): rate = 10 × frequency + noise, with 5 upward spikes. Slopes: least squares 16.8, HuberRegressor 11.0 m³/d per Hz. Machine Learning / Module 1 · Supervised learning foundations 5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Regression metrics answer different questions</a:t>
            </a:r>
          </a:p>
        </p:txBody>
      </p:sp>
      <p:pic>
        <p:nvPicPr>
          <p:cNvPr id="3" name="Slide 51" descr="LINEAR MODELS AND REGULARIZATION Regression metrics answer different questions (yi −ˆyi)2 1 1 2 i MAE = RMSE = X n (yi R = 1 n |yi −ˆyi| −ˆyi)2 − (yi i i −¯y)2 i r X X X MAE RMSE R² Average miss, in target units In target units; large misses Improvement over the count more evaluation mean Treats all error sizes linearly Sensitive to outliers Can be negative; depends on the spread Report errors by well or operating regime as well as overall. Machine Learning / Module 1 · Supervised learning foundations 5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Compute MAE, RMSE and R² by hand</a:t>
            </a:r>
          </a:p>
        </p:txBody>
      </p:sp>
      <p:pic>
        <p:nvPicPr>
          <p:cNvPr id="3" name="Slide 52" descr="PRACTICE 4 min Individual Compute MAE, RMSE and R² by hand Observed y = 10, 12, 9, 15; predicted ŷ = 9, 13, 9, 11. 1 Compute the residuals, the MAE and the RMSE. 2 Compute R², given that the mean of y is 11.5. 3 Which metric reacts most to the one large miss? Machine Learning / Module 1 · Supervised learning foundations 5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regression and regularization</a:t>
            </a:r>
          </a:p>
        </p:txBody>
      </p:sp>
      <p:pic>
        <p:nvPicPr>
          <p:cNvPr id="3" name="Slide 53" descr="LABORATORY 40 min Lab 1: regression and regularization §1.1–1.2: split three ways; fit linear and degree-2 NOTEBOOK models; record R² and MAE exercises/01_supervised_learning_basics/ Supervised_Learning_Basics_Student.ipynb Put a DummyRegressor mean baseline in the first row of your score table EVIDENCE TO SUBMIT Score table, baseline first §1.3: plot training and validation R² against degree, Degree plots: raw powers and raw and standardized standardized columns §2: compare ridge and lasso over α on validation One sentence: which α, and how it rows; count nonzero terms was chosen §2.3: lock one model, then score the test rows once Machine Learning / Module 1 · Supervised learning foundations 5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1 debrief: what the regression lab shows</a:t>
            </a:r>
          </a:p>
        </p:txBody>
      </p:sp>
      <p:pic>
        <p:nvPicPr>
          <p:cNvPr id="3" name="Slide 54" descr="DISCUSSION Lab 1 debrief: what the regression lab shows Reference run of the solution (16,512 training, 2,064 validation, 2,064 test rows; mean baseline R² 0.00): 0.59 0.66 0.11 0.63 validation R², linear on validation R², degree 2 training R², raw MedInc test R² of the locked 8 features (44 terms) at degree 15 ridge, used once Training R² cannot fall as the degree grows unless the solver fails: standardize the polynomial columns. Machine Learning / Module 1 · Supervised learning foundations 5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Classification models</a:t>
            </a:r>
          </a:p>
        </p:txBody>
      </p:sp>
      <p:pic>
        <p:nvPicPr>
          <p:cNvPr id="3" name="Slide 55" descr="PART 5 OF 6 05 Classification models Each model makes a different assumption about the boundary. Logistic regression Nearest neighbours Support vector machines Decision trees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Logistic regression maps a score to a probability</a:t>
            </a:r>
          </a:p>
        </p:txBody>
      </p:sp>
      <p:pic>
        <p:nvPicPr>
          <p:cNvPr id="3" name="Slide 56" descr="CLASSIFICATION MODELS Logistic regression maps a score to a probability 10 1 z = −12.33 + 0.174 × GR p = σ(z) = , z = b + w ⊤x 1 + e−z z +10 API: odds × exp(10w) = 5.72 5 z is the log-odds, ln(p / (1 − p)), 0 Log-odds linear in the inputs −5 Each +1 in an input multiplies the 1.00 shale (class 1) odds by ew 0.75 p = 0.5 exactly where z = 0 0.50 GR = 71 API P(shale) z = 0, p = 0.5 0.25 sand (class 0) 0.00 0 20 40 60 80 100 120 140 Gamma ray GR (API) Synthetic sand and shale GR (60 each, seed 2); fitted weight 0.174 per API. Machine Learning / Module 1 · Supervised learning foundations 5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decision boundary is where p equals 0.5</a:t>
            </a:r>
          </a:p>
        </p:txBody>
      </p:sp>
      <p:pic>
        <p:nvPicPr>
          <p:cNvPr id="3" name="Slide 57" descr="CLASSIFICATION MODELS The decision boundary is where p equals 0.5 With two inputs the decision 0.40 shale (class 1) boundary z = 0 is a straight line 0.35 p = Probability contours run parallel (v/v) 0.5 0.30 to it NPHI 0.25 Curved boundaries need basis porosity expansion or another model 0.20 p = 0.9 0.15 Neutron p = 0.10 0.1 sand (class 0) 0.05 20 40 60 80 100 120 140 Gamma ray GR (API) Synthetic sand and shale samples (80 each, seed 4); standardized logistic regression; contours of predicted probability. Machine Learning / Module 1 · Supervised learning foundations 5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Log loss punishes confident mistakes</a:t>
            </a:r>
          </a:p>
        </p:txBody>
      </p:sp>
      <p:pic>
        <p:nvPicPr>
          <p:cNvPr id="3" name="Slide 58" descr="CLASSIFICATION MODELS Log loss punishes confident mistakes true class 0: L = + (1 5 true class 1: −ln p −ln(1 − p) −[ylnp −y)ln(1 −p)] 4 True shale predicted at p = 0.9 row costs 0.105 3 one The same shale at p = 0.1 costs for p = 0.1: 2.303 2.303, about 22 times more loss 2 Log Fitting minimizes the mean log p = 0.5: 0.693 loss with an iterative solver 1 p = 0.9: 0.105 0 0.0 0.2 0.4 0.6 0.8 1.0 Predicted probability of class 1, p Exact functions; marked values −ln 0.9, −ln 0.5 and −ln 0.1. Machine Learning / Module 1 · Supervised learning foundations 5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worked prediction from two standardized logs</a:t>
            </a:r>
          </a:p>
        </p:txBody>
      </p:sp>
      <p:pic>
        <p:nvPicPr>
          <p:cNvPr id="3" name="Slide 59" descr="CLASSIFICATION MODELS A worked prediction from two standardized logs Weights b = −0.4, wGR = 1.5, wRHOB = 0.8; one sample at GR = 1.2 and RHOB = −0.5 (z-scores). 1 Score — z = −0.4 + 1.5 × 1.2 + 0.8 × (−0.5) = −0.4 + 1.8 − 0.4 = 1.0 2 Probability — σ(1.0) = 1 / (1 + e−1) ≈ 0.73 3 Decision — 0.73 ≥ 0.5, so predict shale 4 Loss if the sample is shale — −ln 0.73 ≈ 0.31 5 Loss if the sample is sand — −ln 0.27 ≈ 1.31 GR adds +1.8 and RHOB −0.4 to the score: such comparisons only make sense on standardized inputs. Machine Learning / Module 1 · Supervised learning foundations 5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Scale, fit, then read probabilities with predict_proba</a:t>
            </a:r>
          </a:p>
        </p:txBody>
      </p:sp>
      <p:pic>
        <p:nvPicPr>
          <p:cNvPr id="3" name="Slide 60" descr="CLASSIFICATION MODELS Scale, fit, then read probabilities with predict_proba C is the inverse L2 strength: from sklearn.pipeline import make_pipeline smaller C means stronger from sklearn.preprocessing import StandardScaler regularization from sklearn.linear_model import LogisticRegression More than two classes: a softmax clf = make_pipeline( over classes, by default StandardScaler(), Choose thresholds on validation LogisticRegression(C=1.0, max_iter=1000), ) rows, not 0.5 by habit clf.fit(X_train, y_train) proba = clf.predict_proba(X_val)[:, 1] pred = (proba &gt;= 0.5).astype(int) Machine Learning / Module 1 · Supervised learning foundations 6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KNN predicts from the nearest labelled examples</a:t>
            </a:r>
          </a:p>
        </p:txBody>
      </p:sp>
      <p:pic>
        <p:nvPicPr>
          <p:cNvPr id="3" name="Slide 61" descr="CLASSIFICATION MODELS KNN predicts from the nearest labelled examples Worked vote with K = 5: neighbour labels 1, 0, 1, 1, 0 give class 1, three votes to two. 1 2 3 4 Measure Select Vote or average Predict distance from the query to the K nearest rows majority class, or mean break ties by rule or by every training row target for regression distance weights Standardize with training statistics when units differ; KNN stores rows instead of fitting weights. Machine Learning / Module 1 · Supervised learning foundations 6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 controls the boundary's detail</a:t>
            </a:r>
          </a:p>
        </p:txBody>
      </p:sp>
      <p:pic>
        <p:nvPicPr>
          <p:cNvPr id="3" name="Slide 62" descr="CLASSIFICATION MODELS K controls the boundary's detail K = 1 K = 7 K = 31 1.5 1.5 1.5 1.0 1.0 1.0 2 0.5 0.5 0.5 Feature 0.0 0.0 0.0 −0.5 −0.5 −0.5 −1.0 −1.0 −1.0 −1 0 1 2 −1 0 1 2 −1 0 1 2 Feature 1 Feature 1 Feature 1 Fitted classifiers on the same synthetic data. Backgrounds show predictions; point shape and colour show observed class. Machine Learning / Module 1 · Supervised learning foundations 6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Scaling changes who your neighbours are</a:t>
            </a:r>
          </a:p>
        </p:txBody>
      </p:sp>
      <p:pic>
        <p:nvPicPr>
          <p:cNvPr id="3" name="Slide 63" descr="CLASSIFICATION MODELS Scaling changes who your neighbours are Raw units Standardized GR spans tens of API units; RHOB vote: 0 sand, 5 limestone vote: 5 sand, 0 limestone spans tenths of a g/cm³ 2.7 limestone 3 Raw distance is almost pure GR: 2 all 5 neighbours are limestone 2.6 1 After standardization RHOB 2.5 (g/cm³) query (z-score) 0 counts: all 5 neighbours are sand sand RHOB 2.4 RHOB −1 −2 2.3 query −3 20 40 60 80 0 2 GR (API) GR (z-score) Synthetic sand and limestone (25 each, seed 9); query at GR 28 API, RHOB 2.35 g/cm³ (star); K = 5. Machine Learning / Module 1 · Supervised learning foundations 6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Distance is a modelling choice</a:t>
            </a:r>
          </a:p>
        </p:txBody>
      </p:sp>
      <p:pic>
        <p:nvPicPr>
          <p:cNvPr id="3" name="Slide 64" descr="CLASSIFICATION MODELS Distance is a modelling choice Distance between two rows a and b over features j: KNN, RBF kernels and clustering all depend on it. Euclidean Manhattan Cosine distance √(∑j (aj −bj )2) ∑j |aj −bj | 1−cosθ, θ the angle between the rows Large differences dominate; One large difference counts scale matters less Compares direction, not magnitude In many dimensions, nearest and farthest points become harder to tell apart (Module 4). Machine Learning / Module 1 · Supervised learning foundations 6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SVM separates classes with a margin</a:t>
            </a:r>
          </a:p>
        </p:txBody>
      </p:sp>
      <p:pic>
        <p:nvPicPr>
          <p:cNvPr id="3" name="Slide 65" descr="CLASSIFICATION MODELS SVM separates classes with a margin 2 Support vectors 1 2 0 Feature −1 −2 −2 −1 0 1 2 Feature 1 Linear SVM fitted to synthetic data. Dashed lines mark the margins; circled observations are support vectors. Machine Learning / Module 1 · Supervised learning foundations 6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Hinge loss ignores points beyond the margin</a:t>
            </a:r>
          </a:p>
        </p:txBody>
      </p:sp>
      <p:pic>
        <p:nvPicPr>
          <p:cNvPr id="3" name="Slide 66" descr="CLASSIFICATION MODELS Hinge loss ignores points beyond the margin Margin m = y·f(x), with labels 3.0 hinge (SVM) inside y = −1 or +1 margin logistic (base 2) 0–1 error 2.5 Hinge loss max(0, 1 − m) is zero once m ≥ 1 row 2.0 Only rows on or inside the margin one for 1.5 shape the fit: the support vectors Loss correct side, Logistic loss never reaches zero, 1.0 outside the margin: hinge loss 0 so every row contributes 0.5 0.0 −2 −1 0 1 2 3 Margin m = y · f(x), with y = ±1 Exact loss functions of the margin m = y·f(x). Machine Learning / Module 1 · Supervised learning foundations 6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C parameter trades margin for violations</a:t>
            </a:r>
          </a:p>
        </p:txBody>
      </p:sp>
      <p:pic>
        <p:nvPicPr>
          <p:cNvPr id="3" name="Slide 67" descr="CLASSIFICATION MODELS The C parameter trades margin for violations 1 min + C max(0, 1 w, b 2∥w∥2 −yif(xi)) i X Small C Large C Violations are cheap: wider margin Violations are expensive: narrower margin vs More support vectors, smoother boundary Chases hard training rows; can fit noise Search C and γ together after scaling; SVM scores are not probabilities by default. Machine Learning / Module 1 · Supervised learning foundations 6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The kernel trick lifts data into a separable space</a:t>
            </a:r>
          </a:p>
        </p:txBody>
      </p:sp>
      <p:pic>
        <p:nvPicPr>
          <p:cNvPr id="3" name="Slide 68" descr="CLASSIFICATION MODELS The kernel trick lifts data into a separable space One feature x: no single threshold works One feature, class 0 in the middle: thresholds x = ±1.12 no single threshold works Map x to (x, x²): a straight line now −2 −1 0 1 2 separates the classes x Lifted: φ(x) = (x, x²), now linearly separable Back in x, that line becomes two 5 thresholds at ±1.12 4 3 The kernel trick computes such x² 2 maximum-margin line x² = 1.25 similarities without building φ(x) 1 0 −2 −1 0 1 2 x Symmetric toy data, 8 points per class; maximum-margin line x² = 1.25 in the lifted space. Machine Learning / Module 1 · Supervised learning foundations 6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Kernels change the space of boundaries</a:t>
            </a:r>
          </a:p>
        </p:txBody>
      </p:sp>
      <p:pic>
        <p:nvPicPr>
          <p:cNvPr id="3" name="Slide 69" descr="CLASSIFICATION MODELS Kernels change the space of boundaries Linear kernel RBF kernel 1.5 1.5 1.0 1.0 2 0.5 0.5 Feature 0.0 0.0 −0.5 −0.5 −1.0 −1.0 −1.5 −1.0 −0.5 0.0 0.5 1.0 1.5 2.0 2.5 −1.5 −1.0 −0.5 0.0 0.5 1.0 1.5 2.0 2.5 Feature 1 Feature 1 Linear and RBF SVM fits on the same synthetic observations. The RBF model can represent a curved boundary. Machine Learning / Module 1 · Supervised learning foundations 6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Gamma sets how far each example's influence reaches</a:t>
            </a:r>
          </a:p>
        </p:txBody>
      </p:sp>
      <p:pic>
        <p:nvPicPr>
          <p:cNvPr id="3" name="Slide 70" descr="CLASSIFICATION MODELS Gamma sets how far each example's influence reaches RBF kernel exp(−γ × squared distance): larger γ gives each training row a more local influence. γ = 0.1: training 0.87, CV 0.86 γ = 1: training 0.95, CV 0.93 γ = 30: training 0.97, CV 0.88 1.5 1.5 1.5 1.0 1.0 1.0 2 0.5 0.5 0.5 Feature 0.0 0.0 0.0 −0.5 −0.5 −0.5 −1.0 −1.0 −1.0 −1 0 1 2 −1 0 1 2 −1 0 1 2 Feature 1 Feature 1 Feature 1 Same synthetic moons as the shared figures (seed 42); standardized RBF SVM with C = 1; accuracy on training rows and 5-fold stratified CV. Machine Learning / Module 1 · Supervised learning foundations 7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Trees ask a sequence of threshold questions</a:t>
            </a:r>
          </a:p>
        </p:txBody>
      </p:sp>
      <p:pic>
        <p:nvPicPr>
          <p:cNvPr id="3" name="Slide 71" descr="CLASSIFICATION MODELS Trees ask a sequence of threshold questions Each internal node tests one feature against a threshold; each leaf predicts its training majority. 1 2.8 GR ≤ 70.1 API 1 Sandstone 2.7 n = 180, Gini 0.667 Shale Limestone yes no 2.6 2 3 2 2.5 RHOB ≤ 2.48 g/cm³ RHOB ≤ 2.38 g/cm³ (g/cm³) n = 118, Gini 0.516 n = 62, Gini 0.121 3 2.4 RHOB yes no yes no 2.3 Sandstone Limestone Sandstone Shale 2.2 n = 57, Gini 0.07 n = 61, Gini 0.03 n = 5, Gini 0.48 n = 57, Gini 0.03 0 20 40 60 80 100 120 140 GR (API) Synthetic facies samples (60 per class, seed 2); a depth-2 tree drawn from scikit-learn's fitted tree_ arrays. Machine Learning / Module 1 · Supervised learning foundations 7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Impurity measures how mixed a node is</a:t>
            </a:r>
          </a:p>
        </p:txBody>
      </p:sp>
      <p:pic>
        <p:nvPicPr>
          <p:cNvPr id="3" name="Slide 72" descr="CLASSIFICATION MODELS Impurity measures how mixed a node is Gini = 1 − p2k, H = − pklog2 pk 1.0 entropy (bits) node with k k 80% sand X X 0.8 Both are zero for a pure node and 0.722 largest at 50/50 0.6 Gini A split is scored by the drop in Impurity size-weighted child impurity 0.4 0.320 Gini and entropy usually choose similar splits 0.2 misclassification 0.0 0.0 0.2 0.4 0.6 0.8 1.0 Share of one class in the node, p Exact two-class impurity functions; marked values at p = 0.8. Machine Learning / Module 1 · Supervised learning foundations 7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Choose the better first split</a:t>
            </a:r>
          </a:p>
        </p:txBody>
      </p:sp>
      <p:pic>
        <p:nvPicPr>
          <p:cNvPr id="3" name="Slide 73" descr="PRACTICE 5 min Pairs Choose the better first split Candidate split Left child: sand / shale Right child: sand / shale A: GR ≤ 60 API 8 / 2 2 / 8 B: RHOB ≤ 2.40 g/cm³ 9 / 5 1 / 5 1 The parent holds 10 sand and 10 shale: compute its Gini impurity. 2 Compute each child's Gini, weight by child size, and pick the split. Machine Learning / Module 1 · Supervised learning foundations 7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Regression trees predict a constant in each leaf</a:t>
            </a:r>
          </a:p>
        </p:txBody>
      </p:sp>
      <p:pic>
        <p:nvPicPr>
          <p:cNvPr id="3" name="Slide 74" descr="CLASSIFICATION MODELS Regression trees predict a constant in each leaf Each leaf predicts the mean no training data 0.35 below 3,000 m target of its training rows Splits are chosen to reduce the 0.30 squared error 0.25 The fit is a staircase and cannot (fraction) 0.20 extrapolate beyond the data Porosity depth 2: 4 leaves Depth and min_samples_leaf set 0.15 the number of steps depth 5: 30 leaves 0.10 generating trend 0.05 1000 1500 2000 2500 3000 3500 Depth (m) Synthetic compaction trend (seed 10), 120 samples; trees of depth 2 and 5. Machine Learning / Module 1 · Supervised learning foundations 7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Depth controls tree complexity</a:t>
            </a:r>
          </a:p>
        </p:txBody>
      </p:sp>
      <p:pic>
        <p:nvPicPr>
          <p:cNvPr id="3" name="Slide 75" descr="CLASSIFICATION MODELS Depth controls tree complexity Depth 2 Depth 5 Unrestricted depth 1.5 1.5 1.5 1.0 1.0 1.0 2 0.5 0.5 0.5 Feature 0.0 0.0 0.0 −0.5 −0.5 −0.5 −1.0 −1.0 −1.0 −1 0 1 2 −1 0 1 2 −1 0 1 2 Feature 1 Feature 1 Feature 1 Trees fitted to the same synthetic observations. More depth permits smaller regions and finer partitions of the training data. Machine Learning / Module 1 · Supervised learning foundations 7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classifiers and a facies split design</a:t>
            </a:r>
          </a:p>
        </p:txBody>
      </p:sp>
      <p:pic>
        <p:nvPicPr>
          <p:cNvPr id="3" name="Slide 76" descr="LABORATORY 45 min Lab 2: classifiers and a facies split design §3: KNN on Iris; plot training and CV accuracy NOTEBOOK against K exercises/01_supervised_learning_basics/ Supervised_Learning_Basics_Student.ipynb §4: trees of depth 1, 2, 3, 5 and unlimited; lock one model, test it once EVIDENCE TO SUBMIT Accuracy against K and depth, with Facies notebook §2–4: audit missing and implausible a majority-class baseline values by well A facies data-audit table by well Facies notebook §6 and §9: write a well-grouped A split and tuning plan for unseen evaluation and tuning plan wells Machine Learning / Module 1 · Supervised learning foundations 7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2 debrief: the facies file needs a well-aware plan</a:t>
            </a:r>
          </a:p>
        </p:txBody>
      </p:sp>
      <p:pic>
        <p:nvPicPr>
          <p:cNvPr id="3" name="Slide 77" descr="DISCUSSION Lab 2 debrief: the facies file needs a well-aware plan Computed from facies_dataset.csv: 4,149 rows from 10 wells. 22% 12 25 10 PE missing; 100% in PE values of 326–328.5 GR values above 200 wells: the real sample two wells (median 3.6) API size for CV Same forest, same nine wells: macro F1 0.76 with shuffled row folds, 0.38 with well folds. Machine Learning / Module 1 · Supervised learning foundations 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Evaluating and selecting models</a:t>
            </a:r>
          </a:p>
        </p:txBody>
      </p:sp>
      <p:pic>
        <p:nvPicPr>
          <p:cNvPr id="3" name="Slide 78" descr="PART 6 OF 6 06 Evaluating and selecting models A score is only as good as the experiment behind it. Confusion matrices and metric choice ROC curves and thresholds Multi-class averages Pipelines, grouped tuning and fair comparison Machine Learning / Module 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confusion matrix preserves the counts</a:t>
            </a:r>
          </a:p>
        </p:txBody>
      </p:sp>
      <p:pic>
        <p:nvPicPr>
          <p:cNvPr id="3" name="Slide 79" descr="EVALUATING AND SELECTING MODELS A confusion matrix preserves the counts Rows are actual classes; columns Predicted class are predictions No event Event False positives are false alarms; false negatives are missed events No event 85 5 State which class is the event True negative False positive before quoting any metric class Some tools transpose this layout: Actual check before reading Event 3 7 False negative True positive Illustrative counts: 100 observations, 10 actual events. Not model performance. Machine Learning / Module 1 · Supervised learning foundations 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Accuracy can hide the minority class</a:t>
            </a:r>
          </a:p>
        </p:txBody>
      </p:sp>
      <p:pic>
        <p:nvPicPr>
          <p:cNvPr id="3" name="Slide 80" descr="PRACTICE 4 min Pairs Accuracy can hide the minority class Using TN = 85, FP = 5, FN = 3, TP = 7: 1 Calculate accuracy, event precision and event recall. 2 Compare with a model that always predicts no event. 3 Which error would matter most for the proposed use? Machine Learning / Module 1 · Supervised learning foundations 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Never alerting still scores 90% accuracy</a:t>
            </a:r>
          </a:p>
        </p:txBody>
      </p:sp>
      <p:pic>
        <p:nvPicPr>
          <p:cNvPr id="3" name="Slide 81" descr="DISCUSSION Never alerting still scores 90% accuracy Same 100 observations, 10 real events: 92% 58% 70% 90% accuracy of the model event precision: 7 of 12 event recall: 7 of 10 accuracy of never alerts events alerting Report per-class precision and recall whenever events are rare. Machine Learning / Module 1 · Supervised learning foundations 8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Metric choice follows the decision</a:t>
            </a:r>
          </a:p>
        </p:txBody>
      </p:sp>
      <p:pic>
        <p:nvPicPr>
          <p:cNvPr id="3" name="Slide 82" descr="EVALUATING AND SELECTING MODELS Metric choice follows the decision Precision Recall How often an alert is right Share of real events caught TP / (TP + FP) TP / (TP + FN) F1 Macro average Harmonic mean of the two Mean over classes Encodes no business costs Rare facies count as much as common ones Agree the metric with the decision owner before looking at any scores. Machine Learning / Module 1 · Supervised learning foundations 8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ROC curves summarize every threshold at once</a:t>
            </a:r>
          </a:p>
        </p:txBody>
      </p:sp>
      <p:pic>
        <p:nvPicPr>
          <p:cNvPr id="3" name="Slide 83" descr="EVALUATING AND SELECTING MODELS ROC curves summarize every threshold at once Moving the threshold trades false alarms for missed events; AUC summarizes the ranking. Scores for the two classes ROC curve 1.0 10 no event threshold 0.2 threshold 0.5 TPR 0.33 event FPR 0.02 0.8 8 rows) threshold 0.2 (TPR) TPR 0.65 FPR 0.16 rate 0.6 6 chance: AUC 0.5 (validation 0.4 4 positive True Density 2 0.2 two sensors: AUC 0.85 one sensor: AUC 0.73 threshold 0.5 0 0.0 0.0 0.2 0.4 0.6 0.8 1.0 0.0 0.2 0.4 0.6 0.8 1.0 Predicted event probability False positive rate (FPR) Synthetic ESP-trip data, 15% events (seed 13); logistic regression trained on 1,000 rows, evaluated on 600 validation rows. Precision–recall curves for rare events: Module 5. Machine Learning / Module 1 · Supervised learning foundations 8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Multi-class errors hide off the diagonal</a:t>
            </a:r>
          </a:p>
        </p:txBody>
      </p:sp>
      <p:pic>
        <p:nvPicPr>
          <p:cNvPr id="3" name="Slide 84" descr="EVALUATING AND SELECTING MODELS Multi-class errors hide off the diagonal Dolomite is found only about half the time; most of its misses are called limestone. macro weighted Sandstone 398 67 1 1 0 0.80 0.86 Siltstone 38 426 66 8 2 Sandstone 0.85 n = 467 Siltstone 0.79 n = 540 facies Shale 0 58 1156 9 3 Shale 0.94 n = 1226 Actual Limestone 1 7 9 666 57 Limestone 0.90 n = 740 Dolomite 1 2 3 104 117 Dolomite 0.52 n = 227 Sand Silt Shale Lime Dolo 0.00 0.25 0.50 0.75 1.00 Predicted facies Recall (share of each facies found) Synthetic 8-well facies data (seed 7); standardized RBF SVM, leave-one-well-out predictions. Colour = share of each actual facies. Machine Learning / Module 1 · Supervised learning foundations 8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Macro and weighted averages answer different questions</a:t>
            </a:r>
          </a:p>
        </p:txBody>
      </p:sp>
      <p:pic>
        <p:nvPicPr>
          <p:cNvPr id="3" name="Slide 85" descr="EVALUATING AND SELECTING MODELS Macro and weighted averages answer different questions Recall on the synthetic facies example, from the same leave-one-well-out predictions: 0.52–0.94 0.80 0.86 per facies: one value per class macro: every facies counts equally weighted by frequency: equals accuracy A rare facies found poorly drags the macro average down; the weighted average hides it. Machine Learning / Module 1 · Supervised learning foundations 8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A pipeline keeps training steps together</a:t>
            </a:r>
          </a:p>
        </p:txBody>
      </p:sp>
      <p:pic>
        <p:nvPicPr>
          <p:cNvPr id="3" name="Slide 86" descr="EVALUATING AND SELECTING MODELS A pipeline keeps training steps together from sklearn.pipeline import make_pipeline from sklearn.impute import SimpleImputer from sklearn.preprocessing import StandardScaler from sklearn.svm import SVC model = make_pipeline( SimpleImputer(strategy=&quot;median&quot;, add_indicator=True), StandardScaler(), SVC(kernel=&quot;rbf&quot;), ) Every cross-validation fit learns fresh imputation and scaling statistics. Machine Learning / Module 1 · Supervised learning foundations 86"/>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Grid search scores every setting with grouped CV</a:t>
            </a:r>
          </a:p>
        </p:txBody>
      </p:sp>
      <p:pic>
        <p:nvPicPr>
          <p:cNvPr id="3" name="Slide 87" descr="EVALUATING AND SELECTING MODELS Grid search scores every setting with grouped CV 16 settings × 3 grouped folds = 48 fits and one refit; the test wells are opened once. Mean CV macro F1 Grid: 4 values of C × 4 of γ = 16 settings 0.1 0.48 0.72 0.65 0.10 Each setting: grouped 3-fold CV on 6 training wells 1 0.71 0.75 0.65 0.32 Keep the best: C = 10, γ = 0.01, CV macro F1 0.75 (penalty) C 10 0.75 0.72 0.63 0.33 Refit that pipeline on all 6 training wells 100 0.75 0.66 0.62 0.33 Score once on test wells W7, W8: macro F1 0.76 0.01 0.1 1 10 γ (larger = more local) Synthetic 8-well facies data (seed 7): GridSearchCV with GroupKFold(3) on wells W1–W6; W7–W8 as the test set. Machine Learning / Module 1 · Supervised learning foundations 8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Grouped tuning respects well boundaries</a:t>
            </a:r>
          </a:p>
        </p:txBody>
      </p:sp>
      <p:pic>
        <p:nvPicPr>
          <p:cNvPr id="3" name="Slide 88" descr="EVALUATING AND SELECTING MODELS Grouped tuning respects well boundaries from sklearn.model_selection import GroupKFold, GridSearchCV search = GridSearchCV( model, {&quot;svc__C&quot;: [0.1, 1, 10, 100], &quot;svc__gamma&quot;: [0.01, 0.1, 1, 10]}, cv=GroupKFold(n_splits=3), scoring=&quot;f1_macro&quot;, ) search.fit(X_train, y_train, groups=well_train) print(search.best_params_, round(search.best_score_, 2)) OUTPUT {'svc__C': 10, 'svc__gamma': 0.01} 0.75 Run on training wells W1–W6 of the synthetic data; W7 and W8 stay closed. Machine Learning / Module 1 · Supervised learning foundations 8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Compare models by their fold-score distributions</a:t>
            </a:r>
          </a:p>
        </p:txBody>
      </p:sp>
      <p:pic>
        <p:nvPicPr>
          <p:cNvPr id="3" name="Slide 89" descr="EVALUATING AND SELECTING MODELS Compare models by their fold-score distributions Same eight held-out wells for every pipeline: read the spread and the paired lines. 1.0 Logistic beats SVM on 4 of 8 wells; mean difference +0.008 well 0.8 0.79 0.78 0.75 0.64 0.6 held-out the on 0.4 F1 0.2 Macro 0.11 0.0 Majority Logistic KNN SVM Tree class regression (K = 15) (RBF) (depth 5) Synthetic 8-well facies data (seed 7); leave-one-well-out macro F1 for five pipelines on identical folds. Grey lines join scores of one well. Machine Learning / Module 1 · Supervised learning foundations 8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Model comparison is a controlled experiment</a:t>
            </a:r>
          </a:p>
        </p:txBody>
      </p:sp>
      <p:pic>
        <p:nvPicPr>
          <p:cNvPr id="3" name="Slide 90" descr="EVALUATING AND SELECTING MODELS Model comparison is a controlled experiment Candidate Strong starting point when Main check Linear or logistic Effects are roughly additive Residual or probability structure KNN Local similarity is meaningful Scaling and prediction cost SVM A margin or kernel helps C, γ and calibration Tree Threshold interactions are plausible Leaf size and stability Hold the split, folds and metric fixed; the baseline row comes first. Pair every score with an error review and the runtime at the point of use. Machine Learning / Module 1 · Supervised learning foundations 9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3: a tuned pipeline and a locked test</a:t>
            </a:r>
          </a:p>
        </p:txBody>
      </p:sp>
      <p:pic>
        <p:nvPicPr>
          <p:cNvPr id="3" name="Slide 91" descr="LABORATORY 25 min Lab 3: a tuned pipeline and a locked test §1: explain why PCA fitted on all rows leaks NOTEBOOK information exercises/03_svm/ SVM_Exercise_Student.ipynb §2–3: fit the 2-D teaching models and record the EVIDENCE TO SUBMIT retained variance What each partition was used for §4: run the CV grid search; record the kernel, C and γ A matched comparison table it selects One final score with its caveat §5: add PCA inside the pipeline; compare 2, 10 and 30 components §6: set RUN_FINAL = True once, after choosing, and report that score Machine Learning / Module 1 · Supervised learning foundations 91"/>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Lab 3 debrief: small holdouts give noisy verdicts</a:t>
            </a:r>
          </a:p>
        </p:txBody>
      </p:sp>
      <p:pic>
        <p:nvPicPr>
          <p:cNvPr id="3" name="Slide 92" descr="DISCUSSION Lab 3 debrief: small holdouts give noisy verdicts Reference run of the SVM notebook on the local Sonar file (208 rows): 124/42/42 39% 0.79 2.4 training, validation and variance kept by 2 CV balanced accuracy accuracy points per row final rows principal components of the chosen RBF SVM in a 42-row holdout The same model scored 0.92 on the 42 validation rows: one procedure, two noisy numbers. Machine Learning / Module 1 · Supervised learning foundations 92"/>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Key takeaways</a:t>
            </a:r>
          </a:p>
        </p:txBody>
      </p:sp>
      <p:pic>
        <p:nvPicPr>
          <p:cNvPr id="3" name="Slide 93" descr="KEY TAKEAWAYS Key takeaways Write the prediction contract before touching a model. Audit the data: null codes, units, depth shifts and patterned gaps. Make the split answer the deployment question: group by well, respect time. Fit every preprocessing step inside the training fold of a pipeline. Compare regularized candidates with a baseline on identical grouped folds. Report per-class metrics and all fold scores; open the test set once. Machine Learning / Module 1 · Supervised learning foundations 93"/>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Exit check: four questions before you leave</a:t>
            </a:r>
          </a:p>
        </p:txBody>
      </p:sp>
      <p:pic>
        <p:nvPicPr>
          <p:cNvPr id="3" name="Slide 94" descr="PRACTICE 5 min Individual Exit check: four questions before you leave 1 Why must scaling run inside a cross-validation pipeline? 2 When is a random row split misleading for well logs? 3 A shale sample was predicted at p = 0.1. What is its log loss, and why is it large? 4 What evidence would justify a more complex model? Machine Learning / Module 1 · Supervised learning foundations 94"/>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0" y="0"/>
            <a:ext cx="12192000" cy="600000"/>
          </a:xfrm>
        </p:spPr>
        <p:txBody>
          <a:bodyPr/>
          <a:lstStyle/>
          <a:p>
            <a:r>
              <a:t>References and further study</a:t>
            </a:r>
          </a:p>
        </p:txBody>
      </p:sp>
      <p:pic>
        <p:nvPicPr>
          <p:cNvPr id="3" name="Slide 95" descr="FURTHER STUDY References and further study scikit-learn User Guide: linear models, neighbours, SVM, trees, cross-validation and common pitfalls. James, Witten, Hastie, Tibshirani: An Introduction to Statistical Learning; Hastie, Tibshirani, Friedman: The Elements of Statistical Learning. Kaufman, Rosset, Perlich, Stitelman (2012). Leakage in data mining: formulation, detection, and avoidance. ACM TKDD 6(4). Roberts et al. (2017). Cross-validation strategies for data with temporal, spatial, hierarchical, or phylogenetic structure. Ecography 40. Hall (2016). Facies classification using machine learning. The Leading Edge 35(10). Machine Learning / Module 1 · Supervised learning foundations 95"/>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 Module 1: Supervised learning foundations</dc:title>
  <dc:subject>Presentation copy with instructor notes; edit slides.md and rebuild to change content</dc:subject>
  <dc:creator>Course teaching materials</dc:creator>
  <cp:keywords/>
  <dc:description>generated using python-pptx</dc:description>
  <cp:lastModifiedBy>Course build</cp:lastModifiedBy>
  <cp:revision>1</cp:revision>
  <dcterms:created xsi:type="dcterms:W3CDTF">2026-09-10T00:00:00Z</dcterms:created>
  <dcterms:modified xsi:type="dcterms:W3CDTF">2026-09-10T00:00:00Z</dcterms:modified>
  <cp:category/>
</cp:coreProperties>
</file>